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7" r:id="rId14"/>
    <p:sldId id="272" r:id="rId15"/>
    <p:sldId id="269" r:id="rId16"/>
    <p:sldId id="273" r:id="rId17"/>
    <p:sldId id="274" r:id="rId18"/>
    <p:sldId id="275" r:id="rId19"/>
    <p:sldId id="270" r:id="rId20"/>
    <p:sldId id="271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73"/>
  </p:normalViewPr>
  <p:slideViewPr>
    <p:cSldViewPr snapToGrid="0" snapToObjects="1">
      <p:cViewPr>
        <p:scale>
          <a:sx n="95" d="100"/>
          <a:sy n="95" d="100"/>
        </p:scale>
        <p:origin x="2216" y="8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Referral-Based Hiring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133600"/>
          </a:xfrm>
        </p:spPr>
        <p:txBody>
          <a:bodyPr>
            <a:norm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rPr dirty="0"/>
              <a:t>Trust</a:t>
            </a:r>
            <a:r>
              <a:rPr lang="en-US" dirty="0"/>
              <a:t> and</a:t>
            </a:r>
            <a:r>
              <a:rPr dirty="0"/>
              <a:t> Referrals</a:t>
            </a:r>
            <a:r>
              <a:rPr lang="en-US" dirty="0"/>
              <a:t> as </a:t>
            </a:r>
            <a:r>
              <a:rPr dirty="0"/>
              <a:t>Network Effects</a:t>
            </a:r>
            <a:endParaRPr lang="en-US" dirty="0"/>
          </a:p>
          <a:p>
            <a:pPr>
              <a:defRPr sz="2400">
                <a:solidFill>
                  <a:srgbClr val="646464"/>
                </a:solidFill>
              </a:defRPr>
            </a:pPr>
            <a:r>
              <a:rPr lang="en-US" dirty="0"/>
              <a:t>(Friend-of-Friend Advantage)</a:t>
            </a:r>
            <a:endParaRPr dirty="0"/>
          </a:p>
          <a:p>
            <a:r>
              <a:rPr lang="en-US" dirty="0"/>
              <a:t>To Better Understand Decisions in Hiring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945336-1CAA-E867-CAE0-5D9EF9B02538}"/>
              </a:ext>
            </a:extLst>
          </p:cNvPr>
          <p:cNvSpPr txBox="1"/>
          <p:nvPr/>
        </p:nvSpPr>
        <p:spPr>
          <a:xfrm>
            <a:off x="2466102" y="619035"/>
            <a:ext cx="42117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T" sz="3600" b="1" dirty="0"/>
              <a:t>Network Fair Process</a:t>
            </a:r>
          </a:p>
          <a:p>
            <a:pPr algn="ctr"/>
            <a:r>
              <a:rPr lang="en-AT" sz="3600" dirty="0"/>
              <a:t>Group #1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400" b="1"/>
            </a:pPr>
            <a:r>
              <a:t>The Hiring Challenge with Referrals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rPr dirty="0"/>
              <a:t>You receive TWO referrals for each candidate</a:t>
            </a:r>
          </a:p>
          <a:p>
            <a:pPr>
              <a:spcAft>
                <a:spcPts val="1200"/>
              </a:spcAft>
              <a:defRPr sz="1800"/>
            </a:pPr>
            <a:r>
              <a:rPr dirty="0"/>
              <a:t>But you don't trust all referrers equally</a:t>
            </a:r>
          </a:p>
          <a:p>
            <a:pPr>
              <a:spcAft>
                <a:spcPts val="1200"/>
              </a:spcAft>
              <a:defRPr sz="1800" b="1">
                <a:solidFill>
                  <a:srgbClr val="003366"/>
                </a:solidFill>
              </a:defRPr>
            </a:pPr>
            <a:r>
              <a:rPr dirty="0"/>
              <a:t>Key insight: Trust matters more than referral quality!</a:t>
            </a:r>
          </a:p>
          <a:p>
            <a:pPr>
              <a:spcAft>
                <a:spcPts val="1200"/>
              </a:spcAft>
              <a:defRPr sz="1800"/>
            </a:pPr>
            <a:r>
              <a:t>Example</a:t>
            </a:r>
            <a:r>
              <a:rPr dirty="0"/>
              <a:t>:</a:t>
            </a:r>
          </a:p>
          <a:p>
            <a:pPr lvl="1">
              <a:spcAft>
                <a:spcPts val="1200"/>
              </a:spcAft>
              <a:defRPr sz="1800"/>
            </a:pPr>
            <a:r>
              <a:rPr dirty="0"/>
              <a:t>   Referral 1: 'Excellent' (from stranger)</a:t>
            </a:r>
          </a:p>
          <a:p>
            <a:pPr lvl="1">
              <a:spcAft>
                <a:spcPts val="1200"/>
              </a:spcAft>
              <a:defRPr sz="1800"/>
            </a:pPr>
            <a:r>
              <a:rPr dirty="0"/>
              <a:t>   Referral 2: 'Very Bad' (from trusted colleague)</a:t>
            </a:r>
          </a:p>
          <a:p>
            <a:pPr lvl="1">
              <a:spcAft>
                <a:spcPts val="1200"/>
              </a:spcAft>
              <a:defRPr sz="1800" b="1"/>
            </a:pPr>
            <a:r>
              <a:rPr dirty="0"/>
              <a:t>   → You use Referral 2 because you trust that source!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What We're Modeling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6412" y="2775473"/>
            <a:ext cx="1371600" cy="731520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F (Fit)</a:t>
            </a:r>
          </a:p>
          <a:p>
            <a:r>
              <a:t>Hidden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5717" y="1691640"/>
            <a:ext cx="1371600" cy="731520"/>
          </a:xfrm>
          <a:prstGeom prst="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rPr dirty="0"/>
              <a:t>R1, R2</a:t>
            </a:r>
          </a:p>
          <a:p>
            <a:r>
              <a:rPr dirty="0"/>
              <a:t>Referrals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5717" y="2528047"/>
            <a:ext cx="1371600" cy="731520"/>
          </a:xfrm>
          <a:prstGeom prst="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T1, T2</a:t>
            </a:r>
          </a:p>
          <a:p>
            <a:r>
              <a:t>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5212" y="2057400"/>
            <a:ext cx="1371600" cy="731520"/>
          </a:xfrm>
          <a:prstGeom prst="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rPr dirty="0"/>
              <a:t>G (Network)</a:t>
            </a:r>
          </a:p>
          <a:p>
            <a:r>
              <a:rPr dirty="0"/>
              <a:t>= Selected R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5212" y="3415553"/>
            <a:ext cx="1371600" cy="731520"/>
          </a:xfrm>
          <a:prstGeom prst="rect">
            <a:avLst/>
          </a:prstGeom>
          <a:solidFill>
            <a:srgbClr val="2ECC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/>
            </a:pPr>
            <a:r>
              <a:t>N (Papers)</a:t>
            </a:r>
          </a:p>
          <a:p>
            <a:r>
              <a:t>Observed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0812" y="4787153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Goal: Compute Pr(F = good | G, N)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D922FB-2A49-918B-9030-5F5742C38CDB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2918012" y="3141233"/>
            <a:ext cx="45720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BE16CF-3CF4-804C-734C-E4F690C1D39F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 flipV="1">
            <a:off x="2918012" y="2423160"/>
            <a:ext cx="457200" cy="7180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4EC34D-440F-75E2-5A99-34525A08F229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 flipV="1">
            <a:off x="4746812" y="2057400"/>
            <a:ext cx="658905" cy="3657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3EA454-5B71-541C-14CA-B22500CF701D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>
            <a:off x="4746812" y="2423160"/>
            <a:ext cx="658905" cy="4706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Step 1: Start with Prior Belief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seeing any signals, we have an initial belief:</a:t>
            </a:r>
          </a:p>
          <a:p>
            <a:pPr>
              <a:defRPr sz="2400" b="1">
                <a:solidFill>
                  <a:srgbClr val="003366"/>
                </a:solidFill>
              </a:defRPr>
            </a:pPr>
            <a:r>
              <a:t>Pr(F = good) = p = 0.5</a:t>
            </a:r>
          </a:p>
          <a:p>
            <a:pPr>
              <a:defRPr sz="1800"/>
            </a:pPr>
            <a:r>
              <a:t>This means: 50% of candidates are good (on average)</a:t>
            </a:r>
          </a:p>
        </p:txBody>
      </p:sp>
      <p:pic>
        <p:nvPicPr>
          <p:cNvPr id="4" name="Picture 3" descr="temp_prior_f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701142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Step 2: Referral Quality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1782762"/>
          </a:xfrm>
        </p:spPr>
        <p:txBody>
          <a:bodyPr>
            <a:normAutofit fontScale="85000" lnSpcReduction="20000"/>
          </a:bodyPr>
          <a:lstStyle/>
          <a:p>
            <a:r>
              <a:rPr sz="2600" dirty="0"/>
              <a:t>Referrals come in 5 quality levels:</a:t>
            </a:r>
          </a:p>
          <a:p>
            <a:pPr marL="846138" indent="-336550">
              <a:defRPr sz="2000" b="1"/>
            </a:pPr>
            <a:r>
              <a:rPr sz="2600" dirty="0"/>
              <a:t>Excellent → Good → Average → Bad → Very Bad</a:t>
            </a:r>
          </a:p>
          <a:p>
            <a:pPr marL="360363" indent="-347663">
              <a:defRPr sz="1800"/>
            </a:pPr>
            <a:r>
              <a:rPr sz="2600" dirty="0"/>
              <a:t>Quality depends on candidate's true fit:</a:t>
            </a:r>
          </a:p>
          <a:p>
            <a:pPr marL="846138" indent="-336550">
              <a:defRPr sz="1800">
                <a:solidFill>
                  <a:srgbClr val="2ECC71"/>
                </a:solidFill>
              </a:defRPr>
            </a:pPr>
            <a:r>
              <a:rPr sz="2600" dirty="0"/>
              <a:t>Good candidates: More likely to get excellent/good referrals</a:t>
            </a:r>
          </a:p>
          <a:p>
            <a:pPr marL="846138" indent="-336550">
              <a:defRPr sz="1800">
                <a:solidFill>
                  <a:srgbClr val="E74C3C"/>
                </a:solidFill>
              </a:defRPr>
            </a:pPr>
            <a:r>
              <a:rPr sz="2600" dirty="0"/>
              <a:t>Bad candidates: More likely to get bad/very bad referrals</a:t>
            </a:r>
            <a:endParaRPr sz="1800" dirty="0"/>
          </a:p>
        </p:txBody>
      </p:sp>
      <p:pic>
        <p:nvPicPr>
          <p:cNvPr id="4" name="Picture 3" descr="temp_referral_dist_f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/>
            </a:pPr>
            <a:r>
              <a:t>Step 3: Trust-Based Referral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Decision Rule:</a:t>
            </a:r>
          </a:p>
          <a:p>
            <a:pPr marL="933450" indent="-336550">
              <a:defRPr sz="1800"/>
            </a:pPr>
            <a:r>
              <a:rPr sz="2400" dirty="0"/>
              <a:t>Trust only R1 → Use R1 (regardless of R2)</a:t>
            </a:r>
          </a:p>
          <a:p>
            <a:pPr marL="933450" indent="-336550">
              <a:defRPr sz="1800"/>
            </a:pPr>
            <a:r>
              <a:rPr sz="2400" dirty="0"/>
              <a:t>Trust only R2 → Use R2 (regardless of R1)</a:t>
            </a:r>
          </a:p>
          <a:p>
            <a:pPr marL="933450" indent="-336550">
              <a:defRPr sz="1800" b="1">
                <a:solidFill>
                  <a:srgbClr val="E67E22"/>
                </a:solidFill>
              </a:defRPr>
            </a:pPr>
            <a:r>
              <a:rPr sz="2400" dirty="0">
                <a:solidFill>
                  <a:srgbClr val="C00000"/>
                </a:solidFill>
              </a:rPr>
              <a:t>Trust both → Use WORST referral (conservative!)</a:t>
            </a:r>
          </a:p>
          <a:p>
            <a:pPr marL="933450" indent="-336550">
              <a:defRPr sz="1800"/>
            </a:pPr>
            <a:r>
              <a:rPr sz="2400" dirty="0">
                <a:solidFill>
                  <a:srgbClr val="C00000"/>
                </a:solidFill>
              </a:rPr>
              <a:t>Trust neither → Use </a:t>
            </a:r>
            <a:r>
              <a:rPr lang="en-US" sz="2400" dirty="0">
                <a:solidFill>
                  <a:srgbClr val="C00000"/>
                </a:solidFill>
              </a:rPr>
              <a:t>WORST</a:t>
            </a:r>
            <a:r>
              <a:rPr sz="2400" dirty="0">
                <a:solidFill>
                  <a:srgbClr val="C00000"/>
                </a:solidFill>
              </a:rPr>
              <a:t> referral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/>
            </a:pPr>
            <a:r>
              <a:rPr dirty="0"/>
              <a:t>Step 4: </a:t>
            </a:r>
            <a:br>
              <a:rPr lang="en-US" dirty="0"/>
            </a:br>
            <a:r>
              <a:rPr dirty="0"/>
              <a:t>Network Effect = Selected Referral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Network effect IS the referral quality!</a:t>
            </a:r>
            <a:endParaRPr lang="en-GB" dirty="0"/>
          </a:p>
          <a:p>
            <a:pPr lvl="1">
              <a:defRPr sz="2400" b="1">
                <a:solidFill>
                  <a:srgbClr val="003366"/>
                </a:solidFill>
              </a:defRPr>
            </a:pPr>
            <a:r>
              <a:rPr lang="en-GB" sz="2000" dirty="0"/>
              <a:t>G = Selected Referral Quality</a:t>
            </a:r>
          </a:p>
          <a:p>
            <a:pPr lvl="1">
              <a:defRPr sz="1800"/>
            </a:pPr>
            <a:r>
              <a:rPr sz="2400" dirty="0"/>
              <a:t>No mapping needed - they are the same!</a:t>
            </a:r>
          </a:p>
          <a:p>
            <a:pPr lvl="2">
              <a:defRPr sz="1800"/>
            </a:pPr>
            <a:r>
              <a:rPr sz="2000" dirty="0"/>
              <a:t>If selected referral is 'Excellent' → G = Excellent</a:t>
            </a:r>
          </a:p>
          <a:p>
            <a:pPr lvl="2">
              <a:defRPr sz="1800"/>
            </a:pPr>
            <a:r>
              <a:rPr sz="2000" dirty="0"/>
              <a:t>If selected </a:t>
            </a:r>
            <a:r>
              <a:rPr dirty="0"/>
              <a:t>referral is 'Very Bad' → G = Very Bad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Step 5: Publication Count Signal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Publication count follows Poisson distribution:</a:t>
            </a:r>
          </a:p>
          <a:p>
            <a:pPr marL="846138" indent="-336550">
              <a:defRPr sz="1800">
                <a:solidFill>
                  <a:srgbClr val="2ECC71"/>
                </a:solidFill>
              </a:defRPr>
            </a:pPr>
            <a:r>
              <a:rPr dirty="0"/>
              <a:t>Good candidates: Average 5 papers (</a:t>
            </a:r>
            <a:r>
              <a:rPr dirty="0" err="1"/>
              <a:t>λ_good</a:t>
            </a:r>
            <a:r>
              <a:rPr dirty="0"/>
              <a:t> = 5.0)</a:t>
            </a:r>
          </a:p>
          <a:p>
            <a:pPr marL="846138" indent="-336550">
              <a:defRPr sz="1800">
                <a:solidFill>
                  <a:srgbClr val="E74C3C"/>
                </a:solidFill>
              </a:defRPr>
            </a:pPr>
            <a:r>
              <a:rPr dirty="0"/>
              <a:t>Bad candidates: Average 2 papers (</a:t>
            </a:r>
            <a:r>
              <a:rPr dirty="0" err="1"/>
              <a:t>λ_bad</a:t>
            </a:r>
            <a:r>
              <a:rPr dirty="0"/>
              <a:t> = 2.0)</a:t>
            </a:r>
          </a:p>
        </p:txBody>
      </p:sp>
      <p:pic>
        <p:nvPicPr>
          <p:cNvPr id="4" name="Picture 3" descr="temp_poisson_f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25762"/>
            <a:ext cx="8229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/>
            </a:pPr>
            <a:r>
              <a:t>Step 6: Combine Signals with Bayes' Theorem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Bayes' Theorem combines prior and signals:</a:t>
            </a:r>
          </a:p>
          <a:p>
            <a:pPr marL="0" indent="0">
              <a:buNone/>
              <a:defRPr sz="2000"/>
            </a:pPr>
            <a:endParaRPr lang="en-GB" sz="2800" b="1" dirty="0">
              <a:solidFill>
                <a:schemeClr val="tx2"/>
              </a:solidFill>
            </a:endParaRPr>
          </a:p>
          <a:p>
            <a:pPr marL="0" indent="0" algn="ctr">
              <a:buNone/>
              <a:defRPr sz="2000"/>
            </a:pPr>
            <a:r>
              <a:rPr lang="en-GB" sz="2800" b="1" dirty="0">
                <a:solidFill>
                  <a:schemeClr val="tx2"/>
                </a:solidFill>
              </a:rPr>
              <a:t>Updated Belief  = Prior × Likelihood / Evidence</a:t>
            </a:r>
          </a:p>
          <a:p>
            <a:pPr>
              <a:defRPr sz="2000"/>
            </a:pPr>
            <a:endParaRPr lang="en-GB" b="1" dirty="0">
              <a:solidFill>
                <a:schemeClr val="tx2"/>
              </a:solidFill>
            </a:endParaRPr>
          </a:p>
          <a:p>
            <a:pPr marL="0" indent="0" algn="ctr">
              <a:buNone/>
              <a:defRPr sz="2000"/>
            </a:pPr>
            <a:r>
              <a:rPr sz="2800" dirty="0" err="1"/>
              <a:t>Pr</a:t>
            </a:r>
            <a:r>
              <a:rPr sz="2800" dirty="0"/>
              <a:t>(F = good | G, N) =</a:t>
            </a:r>
            <a:r>
              <a:rPr lang="en-US" sz="2800" dirty="0"/>
              <a:t> </a:t>
            </a:r>
            <a:r>
              <a:rPr lang="en-GB" sz="2800" dirty="0" err="1"/>
              <a:t>Pr</a:t>
            </a:r>
            <a:r>
              <a:rPr lang="en-GB" sz="2800" dirty="0"/>
              <a:t>(good) </a:t>
            </a:r>
            <a:r>
              <a:rPr lang="en-AT" sz="2800" dirty="0"/>
              <a:t>× </a:t>
            </a:r>
            <a:r>
              <a:rPr sz="2800" dirty="0" err="1"/>
              <a:t>Pr</a:t>
            </a:r>
            <a:r>
              <a:rPr sz="2800" dirty="0"/>
              <a:t>(G, N | good)</a:t>
            </a:r>
          </a:p>
          <a:p>
            <a:pPr marL="457200" lvl="1" indent="0" algn="ctr">
              <a:buNone/>
              <a:defRPr sz="1800"/>
            </a:pPr>
            <a:r>
              <a:rPr lang="en-US" dirty="0"/>
              <a:t>                              </a:t>
            </a:r>
            <a:r>
              <a:rPr dirty="0"/>
              <a:t> </a:t>
            </a:r>
            <a:r>
              <a:rPr lang="en-US" dirty="0"/>
              <a:t>     </a:t>
            </a:r>
            <a:r>
              <a:rPr dirty="0"/>
              <a:t>   </a:t>
            </a:r>
            <a:r>
              <a:rPr lang="en-US" dirty="0"/>
              <a:t>            </a:t>
            </a:r>
            <a:r>
              <a:rPr dirty="0"/>
              <a:t>───</a:t>
            </a:r>
            <a:r>
              <a:rPr lang="en-AT" dirty="0"/>
              <a:t>───────────────</a:t>
            </a:r>
            <a:r>
              <a:rPr dirty="0"/>
              <a:t>────────────────</a:t>
            </a:r>
          </a:p>
          <a:p>
            <a:pPr marL="457200" lvl="1" indent="0" algn="ctr">
              <a:buNone/>
              <a:defRPr sz="1800"/>
            </a:pPr>
            <a:r>
              <a:rPr lang="en-US" sz="2600" dirty="0"/>
              <a:t>                                      </a:t>
            </a:r>
            <a:r>
              <a:rPr sz="2600" dirty="0" err="1"/>
              <a:t>Pr</a:t>
            </a:r>
            <a:r>
              <a:rPr sz="2600" dirty="0"/>
              <a:t>(G, 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The Result: Probability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4618"/>
            <a:ext cx="8229600" cy="2143239"/>
          </a:xfrm>
        </p:spPr>
        <p:txBody>
          <a:bodyPr/>
          <a:lstStyle/>
          <a:p>
            <a:r>
              <a:rPr dirty="0"/>
              <a:t>For each combination of signals, we compute the probability</a:t>
            </a:r>
            <a:r>
              <a:rPr lang="en-US" dirty="0"/>
              <a:t> of being a “good” candidate</a:t>
            </a:r>
            <a:r>
              <a:rPr dirty="0"/>
              <a:t>:</a:t>
            </a:r>
          </a:p>
          <a:p>
            <a:pPr marL="1162050" indent="-333375">
              <a:defRPr sz="1800"/>
            </a:pPr>
            <a:r>
              <a:rPr dirty="0"/>
              <a:t>Rows: Network effect G (5 levels: excellent → very bad)</a:t>
            </a:r>
          </a:p>
          <a:p>
            <a:pPr marL="1162050" indent="-333375">
              <a:defRPr sz="1800"/>
            </a:pPr>
            <a:r>
              <a:rPr dirty="0"/>
              <a:t>Columns: Number of papers N (1-10)</a:t>
            </a:r>
          </a:p>
          <a:p>
            <a:pPr marL="1162050" indent="-333375">
              <a:defRPr sz="1800" b="1"/>
            </a:pPr>
            <a:r>
              <a:rPr dirty="0"/>
              <a:t>Values: </a:t>
            </a:r>
            <a:r>
              <a:rPr dirty="0" err="1"/>
              <a:t>Pr</a:t>
            </a:r>
            <a:r>
              <a:rPr dirty="0"/>
              <a:t>(F = good | G, N)</a:t>
            </a:r>
          </a:p>
        </p:txBody>
      </p:sp>
      <p:pic>
        <p:nvPicPr>
          <p:cNvPr id="4" name="Picture 3" descr="temp_heatmap_f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537857"/>
            <a:ext cx="85953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00D7-C29D-C3B7-39FF-CA7B42079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18A41-7E56-2D35-A159-765493090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rPr lang="en-US" dirty="0"/>
              <a:t>Interpretation</a:t>
            </a:r>
            <a:endParaRPr dirty="0"/>
          </a:p>
        </p:txBody>
      </p:sp>
      <p:pic>
        <p:nvPicPr>
          <p:cNvPr id="4" name="Picture 3" descr="temp_heatmap_fof.png">
            <a:extLst>
              <a:ext uri="{FF2B5EF4-FFF2-40B4-BE49-F238E27FC236}">
                <a16:creationId xmlns:a16="http://schemas.microsoft.com/office/drawing/2014/main" id="{E2575FF6-323D-E7C6-DFDB-C3F6726B8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638"/>
            <a:ext cx="8595360" cy="3200400"/>
          </a:xfrm>
          <a:prstGeom prst="rect">
            <a:avLst/>
          </a:prstGeom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D78D2F0C-9950-1B16-F2B4-2E6E9BE6B8E6}"/>
              </a:ext>
            </a:extLst>
          </p:cNvPr>
          <p:cNvSpPr/>
          <p:nvPr/>
        </p:nvSpPr>
        <p:spPr>
          <a:xfrm rot="10800000">
            <a:off x="4123847" y="4414330"/>
            <a:ext cx="448153" cy="904762"/>
          </a:xfrm>
          <a:prstGeom prst="down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FD6FF1-C569-F6DC-65BF-A233195E4342}"/>
              </a:ext>
            </a:extLst>
          </p:cNvPr>
          <p:cNvSpPr txBox="1"/>
          <p:nvPr/>
        </p:nvSpPr>
        <p:spPr>
          <a:xfrm>
            <a:off x="1867340" y="5468650"/>
            <a:ext cx="49611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sz="3200" dirty="0"/>
              <a:t>6 papers are worth 1 referral</a:t>
            </a:r>
          </a:p>
        </p:txBody>
      </p:sp>
    </p:spTree>
    <p:extLst>
      <p:ext uri="{BB962C8B-B14F-4D97-AF65-F5344CB8AC3E}">
        <p14:creationId xmlns:p14="http://schemas.microsoft.com/office/powerpoint/2010/main" val="2336699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Real Examples: Four Candidates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temp_examples_f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Trust overrides quality:</a:t>
            </a:r>
          </a:p>
          <a:p>
            <a:pPr lvl="1">
              <a:defRPr sz="1800"/>
            </a:pPr>
            <a:r>
              <a:rPr dirty="0"/>
              <a:t>   Trusted referral is used even if untrusted is better</a:t>
            </a:r>
          </a:p>
          <a:p>
            <a:pPr>
              <a:defRPr sz="1800"/>
            </a:pPr>
            <a:r>
              <a:rPr dirty="0"/>
              <a:t>Conservative when both trusted:</a:t>
            </a:r>
          </a:p>
          <a:p>
            <a:pPr lvl="1">
              <a:defRPr sz="1800"/>
            </a:pPr>
            <a:r>
              <a:rPr dirty="0"/>
              <a:t>   When both referrers trusted, use the WORST referral</a:t>
            </a:r>
          </a:p>
          <a:p>
            <a:pPr>
              <a:defRPr sz="1800"/>
            </a:pPr>
            <a:r>
              <a:rPr dirty="0"/>
              <a:t>Network effect = Referral quality:</a:t>
            </a:r>
          </a:p>
          <a:p>
            <a:pPr lvl="1">
              <a:defRPr sz="1800"/>
            </a:pPr>
            <a:r>
              <a:rPr dirty="0"/>
              <a:t>   No separate mapping - they are the same!</a:t>
            </a:r>
          </a:p>
          <a:p>
            <a:pPr>
              <a:defRPr sz="1800">
                <a:solidFill>
                  <a:srgbClr val="2ECC71"/>
                </a:solidFill>
              </a:defRPr>
            </a:pPr>
            <a:r>
              <a:rPr dirty="0"/>
              <a:t>Excellent referral + many papers = Strong signal</a:t>
            </a:r>
          </a:p>
          <a:p>
            <a:pPr>
              <a:defRPr sz="1800">
                <a:solidFill>
                  <a:srgbClr val="E74C3C"/>
                </a:solidFill>
              </a:defRPr>
            </a:pPr>
            <a:r>
              <a:rPr dirty="0"/>
              <a:t>Very bad referral + few papers = Weak signal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Beyond Probabilities: Payoffs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Hiring decisions involve costs and benefits:</a:t>
            </a:r>
          </a:p>
          <a:p>
            <a:pPr>
              <a:defRPr sz="1800">
                <a:solidFill>
                  <a:srgbClr val="2ECC71"/>
                </a:solidFill>
              </a:defRPr>
            </a:pPr>
            <a:r>
              <a:rPr dirty="0"/>
              <a:t>B = Payoff from hiring a GOOD candidate (e.g., 10)</a:t>
            </a:r>
          </a:p>
          <a:p>
            <a:pPr>
              <a:defRPr sz="1800">
                <a:solidFill>
                  <a:srgbClr val="E74C3C"/>
                </a:solidFill>
              </a:defRPr>
            </a:pPr>
            <a:r>
              <a:rPr dirty="0"/>
              <a:t>b = Payoff from hiring a BAD candidate (e.g., -2)</a:t>
            </a:r>
          </a:p>
          <a:p>
            <a:pPr>
              <a:defRPr sz="1800">
                <a:solidFill>
                  <a:srgbClr val="3498DB"/>
                </a:solidFill>
              </a:defRPr>
            </a:pPr>
            <a:r>
              <a:rPr dirty="0"/>
              <a:t>w = Applicant payoff if hired (e.g., 5)</a:t>
            </a:r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rPr dirty="0"/>
              <a:t>Key insight: Bad hires can have negative payoffs!</a:t>
            </a:r>
          </a:p>
        </p:txBody>
      </p:sp>
      <p:pic>
        <p:nvPicPr>
          <p:cNvPr id="4" name="Picture 3" descr="temp_payoffs_f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Expected Payoff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000" dirty="0"/>
              <a:t>Expected Payoff = Weighted average of possible outcomes:</a:t>
            </a:r>
          </a:p>
          <a:p>
            <a:pPr marL="0" indent="0" algn="ctr">
              <a:buNone/>
              <a:defRPr sz="2200" b="1">
                <a:solidFill>
                  <a:srgbClr val="003366"/>
                </a:solidFill>
              </a:defRPr>
            </a:pPr>
            <a:r>
              <a:rPr sz="3000" dirty="0"/>
              <a:t>E[Payoff] = B × </a:t>
            </a:r>
            <a:r>
              <a:rPr sz="3000" dirty="0" err="1"/>
              <a:t>Pr</a:t>
            </a:r>
            <a:r>
              <a:rPr sz="3000" dirty="0"/>
              <a:t>(Good) + b × </a:t>
            </a:r>
            <a:r>
              <a:rPr sz="3000" dirty="0" err="1"/>
              <a:t>Pr</a:t>
            </a:r>
            <a:r>
              <a:rPr sz="3000" dirty="0"/>
              <a:t>(Bad)</a:t>
            </a:r>
          </a:p>
          <a:p>
            <a:pPr>
              <a:defRPr sz="1800"/>
            </a:pPr>
            <a:r>
              <a:rPr sz="3000" dirty="0"/>
              <a:t>Or equivalently:</a:t>
            </a:r>
          </a:p>
          <a:p>
            <a:pPr marL="0" indent="0" algn="ctr">
              <a:buNone/>
              <a:defRPr sz="2000" b="1"/>
            </a:pPr>
            <a:r>
              <a:rPr sz="3000" dirty="0"/>
              <a:t>E[Payoff] = b + (B - b) × </a:t>
            </a:r>
            <a:r>
              <a:rPr sz="3000" dirty="0" err="1"/>
              <a:t>Pr</a:t>
            </a:r>
            <a:r>
              <a:rPr sz="3000" dirty="0"/>
              <a:t>(Good)</a:t>
            </a:r>
          </a:p>
          <a:p>
            <a:pPr>
              <a:defRPr sz="1800"/>
            </a:pPr>
            <a:r>
              <a:rPr sz="3000" dirty="0"/>
              <a:t>Example: </a:t>
            </a:r>
            <a:br>
              <a:rPr lang="en-US" sz="3000" dirty="0"/>
            </a:br>
            <a:r>
              <a:rPr sz="3000" dirty="0"/>
              <a:t>If </a:t>
            </a:r>
            <a:r>
              <a:rPr sz="3000" dirty="0" err="1"/>
              <a:t>Pr</a:t>
            </a:r>
            <a:r>
              <a:rPr sz="3000" dirty="0"/>
              <a:t>(Good) = 0.6, B = 10, b = -2</a:t>
            </a:r>
          </a:p>
          <a:p>
            <a:pPr marL="0" indent="0" algn="ctr">
              <a:buNone/>
              <a:defRPr sz="1800" b="1">
                <a:solidFill>
                  <a:srgbClr val="2ECC71"/>
                </a:solidFill>
              </a:defRPr>
            </a:pPr>
            <a:r>
              <a:rPr sz="3000" dirty="0"/>
              <a:t>E[Payoff] = -2 + (10 - (-2)) × 0.6 = 5.2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Expected Payoff: Real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temp_expected_payoff_f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Two Decision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b="1" dirty="0"/>
              <a:t>Approach 1: Probability-Based</a:t>
            </a:r>
          </a:p>
          <a:p>
            <a:pPr marL="889000" indent="-336550">
              <a:defRPr sz="2000" b="1">
                <a:solidFill>
                  <a:srgbClr val="2ECC71"/>
                </a:solidFill>
              </a:defRPr>
            </a:pPr>
            <a:r>
              <a:rPr sz="2000" dirty="0"/>
              <a:t>IF </a:t>
            </a:r>
            <a:r>
              <a:rPr sz="2000" dirty="0" err="1"/>
              <a:t>Pr</a:t>
            </a:r>
            <a:r>
              <a:rPr sz="2000" dirty="0"/>
              <a:t>(F = good | G, N) &gt; 0.5 → HIRE</a:t>
            </a:r>
          </a:p>
          <a:p>
            <a:pPr marL="889000" indent="-336550">
              <a:defRPr sz="2000" b="1">
                <a:solidFill>
                  <a:srgbClr val="E74C3C"/>
                </a:solidFill>
              </a:defRPr>
            </a:pPr>
            <a:r>
              <a:rPr sz="2000" dirty="0"/>
              <a:t>ELSE → REJECT</a:t>
            </a:r>
          </a:p>
          <a:p>
            <a:pPr marL="889000" indent="-336550">
              <a:defRPr sz="1800"/>
            </a:pPr>
            <a:r>
              <a:rPr sz="2000" dirty="0"/>
              <a:t>✓ Simple and intuitive</a:t>
            </a:r>
          </a:p>
          <a:p>
            <a:pPr marL="889000" indent="-336550">
              <a:defRPr sz="1800"/>
            </a:pPr>
            <a:r>
              <a:rPr sz="2000" dirty="0"/>
              <a:t>✗ Assumes symmetric costs</a:t>
            </a:r>
            <a:endParaRPr lang="en-US" sz="2000" dirty="0"/>
          </a:p>
          <a:p>
            <a:pPr marL="889000" indent="-336550">
              <a:defRPr sz="1800"/>
            </a:pPr>
            <a:endParaRPr sz="2800" dirty="0"/>
          </a:p>
          <a:p>
            <a:pPr>
              <a:defRPr sz="2000" b="1">
                <a:solidFill>
                  <a:srgbClr val="003366"/>
                </a:solidFill>
              </a:defRPr>
            </a:pPr>
            <a:r>
              <a:rPr sz="2800" dirty="0"/>
              <a:t>Approach 2: Payoff-Based</a:t>
            </a:r>
          </a:p>
          <a:p>
            <a:pPr marL="889000" indent="-336550">
              <a:defRPr sz="2000" b="1">
                <a:solidFill>
                  <a:srgbClr val="2ECC71"/>
                </a:solidFill>
              </a:defRPr>
            </a:pPr>
            <a:r>
              <a:rPr sz="2000" dirty="0"/>
              <a:t>IF E[Payoff] &gt; 0 → HIRE</a:t>
            </a:r>
          </a:p>
          <a:p>
            <a:pPr marL="889000" indent="-336550">
              <a:defRPr sz="2000" b="1">
                <a:solidFill>
                  <a:srgbClr val="E74C3C"/>
                </a:solidFill>
              </a:defRPr>
            </a:pPr>
            <a:r>
              <a:rPr sz="2000" dirty="0"/>
              <a:t>ELSE → REJECT</a:t>
            </a:r>
          </a:p>
          <a:p>
            <a:pPr marL="889000" indent="-336550">
              <a:defRPr sz="1800"/>
            </a:pPr>
            <a:r>
              <a:rPr sz="2000" dirty="0"/>
              <a:t>✓ Accounts for different costs/benefits</a:t>
            </a:r>
          </a:p>
          <a:p>
            <a:pPr marL="889000" indent="-336550">
              <a:defRPr sz="1800"/>
            </a:pPr>
            <a:r>
              <a:rPr sz="2000" dirty="0"/>
              <a:t>✓ More realistic for actual decisions</a:t>
            </a:r>
          </a:p>
          <a:p>
            <a:pPr marL="889000" indent="-336550">
              <a:defRPr sz="1800"/>
            </a:pPr>
            <a:r>
              <a:rPr sz="2000" dirty="0"/>
              <a:t>✓ Handles negative payoffs from bad hires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When Do Decisions Differ?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500" dirty="0"/>
              <a:t>Example: Candidate with </a:t>
            </a:r>
            <a:r>
              <a:rPr sz="2500" dirty="0" err="1"/>
              <a:t>Pr</a:t>
            </a:r>
            <a:r>
              <a:rPr sz="2500" dirty="0"/>
              <a:t>(Good) = 0.55</a:t>
            </a:r>
          </a:p>
          <a:p>
            <a:pPr marL="987425" indent="-336550">
              <a:defRPr sz="1800">
                <a:solidFill>
                  <a:srgbClr val="2ECC71"/>
                </a:solidFill>
              </a:defRPr>
            </a:pPr>
            <a:r>
              <a:rPr sz="1800" dirty="0"/>
              <a:t>Probability-based: HIRE (55% &gt; 50%)</a:t>
            </a:r>
          </a:p>
          <a:p>
            <a:pPr marL="987425" indent="-336550"/>
            <a:endParaRPr sz="1800" dirty="0"/>
          </a:p>
          <a:p>
            <a:pPr marL="987425" indent="-336550">
              <a:defRPr sz="1800"/>
            </a:pPr>
            <a:r>
              <a:rPr sz="1800" dirty="0"/>
              <a:t>Payoff-based (B=10, b=-2):</a:t>
            </a:r>
          </a:p>
          <a:p>
            <a:pPr marL="987425" indent="-336550">
              <a:defRPr sz="1800" b="1"/>
            </a:pPr>
            <a:r>
              <a:rPr sz="1800" dirty="0"/>
              <a:t>E[Payoff] = -2 + 12 × 0.55 = 4.6 &gt; 0 → HIRE</a:t>
            </a:r>
          </a:p>
          <a:p>
            <a:pPr marL="987425" indent="-336550"/>
            <a:endParaRPr sz="1800" dirty="0"/>
          </a:p>
          <a:p>
            <a:pPr marL="987425" indent="-336550">
              <a:defRPr sz="1800"/>
            </a:pPr>
            <a:r>
              <a:rPr sz="1800" dirty="0"/>
              <a:t>Payoff-based (B=10, b=-10):</a:t>
            </a:r>
          </a:p>
          <a:p>
            <a:pPr marL="987425" indent="-336550">
              <a:defRPr sz="1800" b="1"/>
            </a:pPr>
            <a:r>
              <a:rPr sz="1800" dirty="0"/>
              <a:t>E[Payoff] = -10 + 20 × 0.55 = 1 &gt; 0 → HIRE</a:t>
            </a:r>
          </a:p>
          <a:p>
            <a:pPr marL="987425" indent="-336550"/>
            <a:endParaRPr sz="1800" dirty="0"/>
          </a:p>
          <a:p>
            <a:pPr marL="987425" indent="-336550">
              <a:defRPr sz="1800"/>
            </a:pPr>
            <a:r>
              <a:rPr sz="1800" dirty="0"/>
              <a:t>Payoff-based (B=10, b=-30):</a:t>
            </a:r>
          </a:p>
          <a:p>
            <a:pPr marL="987425" indent="-336550">
              <a:defRPr sz="1800" b="1">
                <a:solidFill>
                  <a:srgbClr val="E74C3C"/>
                </a:solidFill>
              </a:defRPr>
            </a:pPr>
            <a:r>
              <a:rPr sz="1800" dirty="0"/>
              <a:t>E[Payoff] = -30 + 40 × 0.55 = -8 &lt; 0 → REJECT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endParaRPr lang="en-US" sz="2500" dirty="0"/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rPr sz="2500" dirty="0"/>
              <a:t>Key insight: High cost of bad hires makes us more conservative!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 b="1"/>
            </a:pPr>
            <a:r>
              <a:rPr dirty="0"/>
              <a:t>Start with prior belief about candidate quality</a:t>
            </a:r>
          </a:p>
          <a:p>
            <a:pPr>
              <a:spcAft>
                <a:spcPts val="1200"/>
              </a:spcAft>
              <a:defRPr sz="2200" b="1"/>
            </a:pPr>
            <a:r>
              <a:rPr dirty="0"/>
              <a:t>Observe two referrals (R1, R2) and trust (T1, T2)</a:t>
            </a:r>
          </a:p>
          <a:p>
            <a:pPr>
              <a:spcAft>
                <a:spcPts val="1200"/>
              </a:spcAft>
              <a:defRPr sz="2200" b="1"/>
            </a:pPr>
            <a:r>
              <a:rPr dirty="0"/>
              <a:t>Select referral based on trust (trust overrides quality!)</a:t>
            </a:r>
          </a:p>
          <a:p>
            <a:pPr>
              <a:spcAft>
                <a:spcPts val="1200"/>
              </a:spcAft>
              <a:defRPr sz="2200" b="1"/>
            </a:pPr>
            <a:r>
              <a:rPr dirty="0"/>
              <a:t>Network effect G = selected referral quality</a:t>
            </a:r>
          </a:p>
          <a:p>
            <a:pPr>
              <a:spcAft>
                <a:spcPts val="1200"/>
              </a:spcAft>
              <a:defRPr sz="2200" b="1"/>
            </a:pPr>
            <a:r>
              <a:rPr dirty="0"/>
              <a:t>Use Bayes' theorem to get </a:t>
            </a:r>
            <a:r>
              <a:rPr dirty="0" err="1"/>
              <a:t>Pr</a:t>
            </a:r>
            <a:r>
              <a:rPr dirty="0"/>
              <a:t>(F = good | G, N)</a:t>
            </a:r>
            <a:endParaRPr lang="en-US" dirty="0"/>
          </a:p>
          <a:p>
            <a:pPr>
              <a:spcAft>
                <a:spcPts val="1200"/>
              </a:spcAft>
              <a:defRPr sz="2200" b="1"/>
            </a:pPr>
            <a:r>
              <a:rPr lang="en-GB" dirty="0"/>
              <a:t>Compute expected payoff: E[Payoff] = B × </a:t>
            </a:r>
            <a:r>
              <a:rPr lang="en-GB" dirty="0" err="1"/>
              <a:t>Pr</a:t>
            </a:r>
            <a:r>
              <a:rPr lang="en-GB" dirty="0"/>
              <a:t>(Good) + b × </a:t>
            </a:r>
            <a:r>
              <a:rPr lang="en-GB" dirty="0" err="1"/>
              <a:t>Pr</a:t>
            </a:r>
            <a:r>
              <a:rPr lang="en-GB" dirty="0"/>
              <a:t>(Bad)</a:t>
            </a:r>
            <a:endParaRPr dirty="0"/>
          </a:p>
          <a:p>
            <a:pPr>
              <a:spcAft>
                <a:spcPts val="1200"/>
              </a:spcAft>
              <a:defRPr sz="2200" b="1"/>
            </a:pPr>
            <a:r>
              <a:rPr dirty="0"/>
              <a:t>Make hiring decision based on probability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/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3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989</Words>
  <Application>Microsoft Macintosh PowerPoint</Application>
  <PresentationFormat>On-screen Show (4:3)</PresentationFormat>
  <Paragraphs>128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Referral-Based Hiring Model</vt:lpstr>
      <vt:lpstr>The Hiring Challenge with Referrals</vt:lpstr>
      <vt:lpstr>PowerPoint Presentation</vt:lpstr>
      <vt:lpstr>Step 1: Start with Prior Belief</vt:lpstr>
      <vt:lpstr>Step 2: Referral Quality Signal</vt:lpstr>
      <vt:lpstr>Step 3: Trust-Based Referral Selection</vt:lpstr>
      <vt:lpstr>Step 4:  Network Effect = Selected Referral</vt:lpstr>
      <vt:lpstr>Step 5: Publication Count Signal</vt:lpstr>
      <vt:lpstr>Step 6: Combine Signals with Bayes' Theorem</vt:lpstr>
      <vt:lpstr>The Result: Probability Matrix</vt:lpstr>
      <vt:lpstr>Interpretation</vt:lpstr>
      <vt:lpstr>Real Examples: Four Candidates</vt:lpstr>
      <vt:lpstr>Key Insights</vt:lpstr>
      <vt:lpstr>Beyond Probabilities: Payoffs</vt:lpstr>
      <vt:lpstr>Expected Payoff Calculation</vt:lpstr>
      <vt:lpstr>Expected Payoff: Real Examples</vt:lpstr>
      <vt:lpstr>Two Decision Approaches</vt:lpstr>
      <vt:lpstr>When Do Decisions Differ?</vt:lpstr>
      <vt:lpstr>Summary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Lisette Espin</cp:lastModifiedBy>
  <cp:revision>16</cp:revision>
  <dcterms:created xsi:type="dcterms:W3CDTF">2013-01-27T09:14:16Z</dcterms:created>
  <dcterms:modified xsi:type="dcterms:W3CDTF">2026-01-21T06:50:32Z</dcterms:modified>
  <cp:category/>
</cp:coreProperties>
</file>