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0" r:id="rId15"/>
    <p:sldId id="271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 snapToObjects="1">
      <p:cViewPr varScale="1">
        <p:scale>
          <a:sx n="117" d="100"/>
          <a:sy n="117" d="100"/>
        </p:scale>
        <p:origin x="1576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pPr>
              <a:defRPr sz="5400" b="1">
                <a:solidFill>
                  <a:srgbClr val="003366"/>
                </a:solidFill>
              </a:defRPr>
            </a:pPr>
            <a:r>
              <a:t>Referral-Based Hiring Model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400">
                <a:solidFill>
                  <a:srgbClr val="646464"/>
                </a:solidFill>
              </a:defRPr>
            </a:pPr>
            <a:r>
              <a:t>Trust, Referrals, and Network Effects</a:t>
            </a:r>
          </a:p>
          <a:p>
            <a:r>
              <a:t>A Bayesian Approach to Hiring Decisions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defRPr sz="4400" b="1"/>
            </a:pPr>
            <a:r>
              <a:t>The Hiring Challenge with Referrals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200"/>
              </a:spcAft>
              <a:defRPr sz="1800"/>
            </a:pPr>
            <a:r>
              <a:rPr dirty="0"/>
              <a:t>You receive TWO referrals for each candidate</a:t>
            </a:r>
          </a:p>
          <a:p>
            <a:pPr>
              <a:spcAft>
                <a:spcPts val="1200"/>
              </a:spcAft>
              <a:defRPr sz="1800"/>
            </a:pPr>
            <a:r>
              <a:rPr dirty="0"/>
              <a:t>But you don't trust all referrers equally</a:t>
            </a:r>
          </a:p>
          <a:p>
            <a:pPr>
              <a:spcAft>
                <a:spcPts val="1200"/>
              </a:spcAft>
              <a:defRPr sz="1800" b="1">
                <a:solidFill>
                  <a:srgbClr val="003366"/>
                </a:solidFill>
              </a:defRPr>
            </a:pPr>
            <a:r>
              <a:rPr dirty="0"/>
              <a:t>Key insight: Trust matters more than referral quality!</a:t>
            </a:r>
          </a:p>
          <a:p>
            <a:pPr>
              <a:spcAft>
                <a:spcPts val="1200"/>
              </a:spcAft>
              <a:defRPr sz="1800"/>
            </a:pPr>
            <a:r>
              <a:t>Example</a:t>
            </a:r>
            <a:r>
              <a:rPr dirty="0"/>
              <a:t>:</a:t>
            </a:r>
          </a:p>
          <a:p>
            <a:pPr lvl="1">
              <a:spcAft>
                <a:spcPts val="1200"/>
              </a:spcAft>
              <a:defRPr sz="1800"/>
            </a:pPr>
            <a:r>
              <a:rPr dirty="0"/>
              <a:t>   Referral 1: 'Excellent' (from stranger)</a:t>
            </a:r>
          </a:p>
          <a:p>
            <a:pPr lvl="1">
              <a:spcAft>
                <a:spcPts val="1200"/>
              </a:spcAft>
              <a:defRPr sz="1800"/>
            </a:pPr>
            <a:r>
              <a:rPr dirty="0"/>
              <a:t>   Referral 2: 'Very Bad' (from trusted colleague)</a:t>
            </a:r>
          </a:p>
          <a:p>
            <a:pPr lvl="1">
              <a:spcAft>
                <a:spcPts val="1200"/>
              </a:spcAft>
              <a:defRPr sz="1800" b="1"/>
            </a:pPr>
            <a:r>
              <a:rPr dirty="0"/>
              <a:t>   → You use Referral 2 because you trust that source!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What We're Modeling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28800"/>
            <a:ext cx="1371600" cy="731520"/>
          </a:xfrm>
          <a:prstGeom prst="rect">
            <a:avLst/>
          </a:prstGeom>
          <a:solidFill>
            <a:srgbClr val="C8C8C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 b="1"/>
            </a:pPr>
            <a:r>
              <a:t>F (Fit)</a:t>
            </a:r>
          </a:p>
          <a:p>
            <a:r>
              <a:t>Hidden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0" y="1828800"/>
            <a:ext cx="1371600" cy="731520"/>
          </a:xfrm>
          <a:prstGeom prst="rect">
            <a:avLst/>
          </a:prstGeom>
          <a:solidFill>
            <a:srgbClr val="2ECC7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 b="1"/>
            </a:pPr>
            <a:r>
              <a:t>R1, R2</a:t>
            </a:r>
          </a:p>
          <a:p>
            <a:r>
              <a:t>Referrals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0" y="1828800"/>
            <a:ext cx="1371600" cy="731520"/>
          </a:xfrm>
          <a:prstGeom prst="rect">
            <a:avLst/>
          </a:prstGeom>
          <a:solidFill>
            <a:srgbClr val="3498D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 b="1"/>
            </a:pPr>
            <a:r>
              <a:t>T1, T2</a:t>
            </a:r>
          </a:p>
          <a:p>
            <a:r>
              <a:t>Trust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828800"/>
            <a:ext cx="1371600" cy="731520"/>
          </a:xfrm>
          <a:prstGeom prst="rect">
            <a:avLst/>
          </a:prstGeom>
          <a:solidFill>
            <a:srgbClr val="9B59B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 b="1"/>
            </a:pPr>
            <a:r>
              <a:t>G (Network)</a:t>
            </a:r>
          </a:p>
          <a:p>
            <a:r>
              <a:t>= Selected R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0" y="3200400"/>
            <a:ext cx="1371600" cy="731520"/>
          </a:xfrm>
          <a:prstGeom prst="rect">
            <a:avLst/>
          </a:prstGeom>
          <a:solidFill>
            <a:srgbClr val="2ECC7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 b="1"/>
            </a:pPr>
            <a:r>
              <a:t>N (Papers)</a:t>
            </a:r>
          </a:p>
          <a:p>
            <a:r>
              <a:t>Observed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4572000"/>
            <a:ext cx="5486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3366"/>
                </a:solidFill>
              </a:defRPr>
            </a:pPr>
            <a:r>
              <a:t>Goal: Compute Pr(F = good | G, 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/>
            </a:pPr>
            <a:r>
              <a:t>Step 1: Start with Prior Belief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Before seeing any signals, we have an initial belief:</a:t>
            </a:r>
          </a:p>
          <a:p>
            <a:pPr>
              <a:defRPr sz="2400" b="1">
                <a:solidFill>
                  <a:srgbClr val="003366"/>
                </a:solidFill>
              </a:defRPr>
            </a:pPr>
            <a:r>
              <a:t>Pr(F = good) = p = 0.5</a:t>
            </a:r>
          </a:p>
          <a:p>
            <a:pPr>
              <a:defRPr sz="1800"/>
            </a:pPr>
            <a:r>
              <a:t>This means: 50% of candidates are good (on average)</a:t>
            </a:r>
          </a:p>
        </p:txBody>
      </p:sp>
      <p:pic>
        <p:nvPicPr>
          <p:cNvPr id="4" name="Picture 3" descr="temp_prior_f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701142"/>
            <a:ext cx="73152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/>
            </a:pPr>
            <a:r>
              <a:t>Step 2: Referral Quality Signal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7639"/>
            <a:ext cx="8229600" cy="1782762"/>
          </a:xfrm>
        </p:spPr>
        <p:txBody>
          <a:bodyPr>
            <a:normAutofit lnSpcReduction="10000"/>
          </a:bodyPr>
          <a:lstStyle/>
          <a:p>
            <a:r>
              <a:rPr dirty="0"/>
              <a:t>Referrals come in 5 quality levels:</a:t>
            </a:r>
          </a:p>
          <a:p>
            <a:pPr marL="846138" indent="-336550">
              <a:defRPr sz="2000" b="1"/>
            </a:pPr>
            <a:r>
              <a:rPr dirty="0"/>
              <a:t>Excellent → Good → Average → Bad → Very Bad</a:t>
            </a:r>
          </a:p>
          <a:p>
            <a:pPr marL="846138" indent="-336550">
              <a:defRPr sz="1800"/>
            </a:pPr>
            <a:r>
              <a:rPr dirty="0"/>
              <a:t>Quality depends on candidate's true fit:</a:t>
            </a:r>
          </a:p>
          <a:p>
            <a:pPr marL="846138" indent="-336550">
              <a:defRPr sz="1800">
                <a:solidFill>
                  <a:srgbClr val="2ECC71"/>
                </a:solidFill>
              </a:defRPr>
            </a:pPr>
            <a:r>
              <a:rPr dirty="0"/>
              <a:t>Good candidates: More likely to get excellent/good referrals</a:t>
            </a:r>
          </a:p>
          <a:p>
            <a:pPr marL="846138" indent="-336550">
              <a:defRPr sz="1800">
                <a:solidFill>
                  <a:srgbClr val="E74C3C"/>
                </a:solidFill>
              </a:defRPr>
            </a:pPr>
            <a:r>
              <a:rPr dirty="0"/>
              <a:t>Bad candidates: More likely to get bad/very bad referrals</a:t>
            </a:r>
          </a:p>
        </p:txBody>
      </p:sp>
      <p:pic>
        <p:nvPicPr>
          <p:cNvPr id="4" name="Picture 3" descr="temp_referral_dist_f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0"/>
            <a:ext cx="82296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/>
            </a:pPr>
            <a:r>
              <a:t>Step 3: Trust-Based Referral Selection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Decision Rule:</a:t>
            </a:r>
          </a:p>
          <a:p>
            <a:pPr marL="933450" indent="-336550">
              <a:defRPr sz="1800"/>
            </a:pPr>
            <a:r>
              <a:rPr dirty="0"/>
              <a:t>Trust only R1 → Use R1 (regardless of R2)</a:t>
            </a:r>
          </a:p>
          <a:p>
            <a:pPr marL="933450" indent="-336550">
              <a:defRPr sz="1800"/>
            </a:pPr>
            <a:r>
              <a:rPr dirty="0"/>
              <a:t>Trust only R2 → Use R2 (regardless of R1)</a:t>
            </a:r>
          </a:p>
          <a:p>
            <a:pPr marL="933450" indent="-336550">
              <a:defRPr sz="1800" b="1">
                <a:solidFill>
                  <a:srgbClr val="E67E22"/>
                </a:solidFill>
              </a:defRPr>
            </a:pPr>
            <a:r>
              <a:rPr dirty="0"/>
              <a:t>Trust both → Use WORST referral (conservative!)</a:t>
            </a:r>
          </a:p>
          <a:p>
            <a:pPr marL="933450" indent="-336550">
              <a:defRPr sz="1800"/>
            </a:pPr>
            <a:r>
              <a:rPr dirty="0"/>
              <a:t>Trust neither → Use </a:t>
            </a:r>
            <a:r>
              <a:rPr lang="en-US" dirty="0"/>
              <a:t>WORST</a:t>
            </a:r>
            <a:r>
              <a:rPr dirty="0"/>
              <a:t> referral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defRPr sz="4000"/>
            </a:pPr>
            <a:r>
              <a:rPr dirty="0"/>
              <a:t>Step 4: </a:t>
            </a:r>
            <a:br>
              <a:rPr lang="en-US" dirty="0"/>
            </a:br>
            <a:r>
              <a:rPr dirty="0"/>
              <a:t>Network Effect = Selected Referral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Key insight: Network effect IS the referral quality!</a:t>
            </a:r>
          </a:p>
          <a:p>
            <a:pPr>
              <a:defRPr sz="2400" b="1">
                <a:solidFill>
                  <a:srgbClr val="003366"/>
                </a:solidFill>
              </a:defRPr>
            </a:pPr>
            <a:r>
              <a:rPr dirty="0"/>
              <a:t>G = Selected Referral Quality</a:t>
            </a:r>
          </a:p>
          <a:p>
            <a:pPr>
              <a:defRPr sz="1800"/>
            </a:pPr>
            <a:r>
              <a:rPr dirty="0"/>
              <a:t>No mapping needed - they are the same!</a:t>
            </a:r>
          </a:p>
          <a:p>
            <a:pPr>
              <a:defRPr sz="1800"/>
            </a:pPr>
            <a:r>
              <a:rPr dirty="0"/>
              <a:t>If selected referral is 'Excellent' → G = Excellent</a:t>
            </a:r>
          </a:p>
          <a:p>
            <a:pPr>
              <a:defRPr sz="1800"/>
            </a:pPr>
            <a:r>
              <a:rPr dirty="0"/>
              <a:t>If selected referral is 'Very Bad' → G = Very Bad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/>
            </a:pPr>
            <a:r>
              <a:t>Step 5: Publication Count Signal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Publication count follows Poisson distribution:</a:t>
            </a:r>
          </a:p>
          <a:p>
            <a:pPr marL="846138" indent="-336550">
              <a:defRPr sz="1800">
                <a:solidFill>
                  <a:srgbClr val="2ECC71"/>
                </a:solidFill>
              </a:defRPr>
            </a:pPr>
            <a:r>
              <a:rPr dirty="0"/>
              <a:t>Good candidates: Average 5 papers (</a:t>
            </a:r>
            <a:r>
              <a:rPr dirty="0" err="1"/>
              <a:t>λ_good</a:t>
            </a:r>
            <a:r>
              <a:rPr dirty="0"/>
              <a:t> = 5.0)</a:t>
            </a:r>
          </a:p>
          <a:p>
            <a:pPr marL="846138" indent="-336550">
              <a:defRPr sz="1800">
                <a:solidFill>
                  <a:srgbClr val="E74C3C"/>
                </a:solidFill>
              </a:defRPr>
            </a:pPr>
            <a:r>
              <a:rPr dirty="0"/>
              <a:t>Bad candidates: Average 2 papers (</a:t>
            </a:r>
            <a:r>
              <a:rPr dirty="0" err="1"/>
              <a:t>λ_bad</a:t>
            </a:r>
            <a:r>
              <a:rPr dirty="0"/>
              <a:t> = 2.0)</a:t>
            </a:r>
          </a:p>
        </p:txBody>
      </p:sp>
      <p:pic>
        <p:nvPicPr>
          <p:cNvPr id="4" name="Picture 3" descr="temp_poisson_f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5762"/>
            <a:ext cx="82296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defRPr sz="3600"/>
            </a:pPr>
            <a:r>
              <a:t>Step 6: Combine Signals with Bayes' Theorem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Bayes' Theorem combines prior and signals:</a:t>
            </a:r>
          </a:p>
          <a:p>
            <a:pPr>
              <a:defRPr sz="2000"/>
            </a:pPr>
            <a:r>
              <a:rPr lang="en-GB" b="1" dirty="0">
                <a:solidFill>
                  <a:schemeClr val="tx2"/>
                </a:solidFill>
              </a:rPr>
              <a:t>Updated Belief  = Prior × Evidence</a:t>
            </a:r>
          </a:p>
          <a:p>
            <a:pPr>
              <a:defRPr sz="2000"/>
            </a:pPr>
            <a:endParaRPr lang="en-GB" b="1" dirty="0">
              <a:solidFill>
                <a:schemeClr val="tx2"/>
              </a:solidFill>
            </a:endParaRPr>
          </a:p>
          <a:p>
            <a:pPr>
              <a:defRPr sz="2000"/>
            </a:pPr>
            <a:r>
              <a:rPr dirty="0" err="1"/>
              <a:t>Pr</a:t>
            </a:r>
            <a:r>
              <a:rPr dirty="0"/>
              <a:t>(F = good | G, N) =</a:t>
            </a:r>
            <a:r>
              <a:rPr lang="en-US" dirty="0"/>
              <a:t>  </a:t>
            </a:r>
            <a:r>
              <a:rPr dirty="0" err="1"/>
              <a:t>Pr</a:t>
            </a:r>
            <a:r>
              <a:rPr dirty="0"/>
              <a:t>(G, N | good) × </a:t>
            </a:r>
            <a:r>
              <a:rPr dirty="0" err="1"/>
              <a:t>Pr</a:t>
            </a:r>
            <a:r>
              <a:rPr dirty="0"/>
              <a:t>(good)</a:t>
            </a:r>
          </a:p>
          <a:p>
            <a:pPr marL="457200" lvl="1" indent="0">
              <a:buNone/>
              <a:defRPr sz="1800"/>
            </a:pPr>
            <a:r>
              <a:rPr lang="en-US" dirty="0"/>
              <a:t>                              </a:t>
            </a:r>
            <a:r>
              <a:rPr dirty="0"/>
              <a:t>    ─────────────────────────────</a:t>
            </a:r>
          </a:p>
          <a:p>
            <a:pPr marL="457200" lvl="1" indent="0">
              <a:buNone/>
              <a:defRPr sz="1800"/>
            </a:pPr>
            <a:r>
              <a:rPr lang="en-US" dirty="0"/>
              <a:t>                                                           </a:t>
            </a:r>
            <a:r>
              <a:rPr dirty="0" err="1"/>
              <a:t>Pr</a:t>
            </a:r>
            <a:r>
              <a:rPr dirty="0"/>
              <a:t>(G, N)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/>
            </a:pPr>
            <a:r>
              <a:t>The Result: Probability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394618"/>
            <a:ext cx="8229600" cy="2143239"/>
          </a:xfrm>
        </p:spPr>
        <p:txBody>
          <a:bodyPr/>
          <a:lstStyle/>
          <a:p>
            <a:r>
              <a:rPr dirty="0"/>
              <a:t>For each combination of signals, we compute the probability:</a:t>
            </a:r>
          </a:p>
          <a:p>
            <a:pPr>
              <a:defRPr sz="1800"/>
            </a:pPr>
            <a:r>
              <a:rPr dirty="0"/>
              <a:t>Rows: Network effect G (5 levels: excellent → very bad)</a:t>
            </a:r>
          </a:p>
          <a:p>
            <a:pPr>
              <a:defRPr sz="1800"/>
            </a:pPr>
            <a:r>
              <a:rPr dirty="0"/>
              <a:t>Columns: Number of papers N (1-10)</a:t>
            </a:r>
          </a:p>
          <a:p>
            <a:pPr>
              <a:defRPr sz="1800" b="1"/>
            </a:pPr>
            <a:r>
              <a:rPr dirty="0"/>
              <a:t>Values: </a:t>
            </a:r>
            <a:r>
              <a:rPr dirty="0" err="1"/>
              <a:t>Pr</a:t>
            </a:r>
            <a:r>
              <a:rPr dirty="0"/>
              <a:t>(F = good | G, N)</a:t>
            </a:r>
          </a:p>
        </p:txBody>
      </p:sp>
      <p:pic>
        <p:nvPicPr>
          <p:cNvPr id="4" name="Picture 3" descr="temp_heatmap_f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3537857"/>
            <a:ext cx="859536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/>
            </a:pPr>
            <a:r>
              <a:t>Real Examples: Four Candidates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pic>
        <p:nvPicPr>
          <p:cNvPr id="4" name="Picture 3" descr="temp_examples_f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2296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/>
            </a:pPr>
            <a:r>
              <a:t>Key Insights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Trust overrides quality:</a:t>
            </a:r>
          </a:p>
          <a:p>
            <a:pPr lvl="1">
              <a:defRPr sz="1800"/>
            </a:pPr>
            <a:r>
              <a:rPr dirty="0"/>
              <a:t>   Trusted referral is used even if untrusted is better</a:t>
            </a:r>
          </a:p>
          <a:p>
            <a:pPr>
              <a:defRPr sz="1800"/>
            </a:pPr>
            <a:r>
              <a:rPr dirty="0"/>
              <a:t>Conservative when both trusted:</a:t>
            </a:r>
          </a:p>
          <a:p>
            <a:pPr lvl="1">
              <a:defRPr sz="1800"/>
            </a:pPr>
            <a:r>
              <a:rPr dirty="0"/>
              <a:t>   When both referrers trusted, use the WORST referral</a:t>
            </a:r>
          </a:p>
          <a:p>
            <a:pPr>
              <a:defRPr sz="1800"/>
            </a:pPr>
            <a:r>
              <a:rPr dirty="0"/>
              <a:t>Network effect = Referral quality:</a:t>
            </a:r>
          </a:p>
          <a:p>
            <a:pPr lvl="1">
              <a:defRPr sz="1800"/>
            </a:pPr>
            <a:r>
              <a:rPr dirty="0"/>
              <a:t>   No separate mapping - they are the same!</a:t>
            </a:r>
          </a:p>
          <a:p>
            <a:pPr>
              <a:defRPr sz="1800">
                <a:solidFill>
                  <a:srgbClr val="2ECC71"/>
                </a:solidFill>
              </a:defRPr>
            </a:pPr>
            <a:r>
              <a:rPr dirty="0"/>
              <a:t>Excellent referral + many papers = Strong signal</a:t>
            </a:r>
          </a:p>
          <a:p>
            <a:pPr>
              <a:defRPr sz="1800">
                <a:solidFill>
                  <a:srgbClr val="E74C3C"/>
                </a:solidFill>
              </a:defRPr>
            </a:pPr>
            <a:r>
              <a:rPr dirty="0"/>
              <a:t>Very bad referral + few papers = Weak signal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/>
            </a:pPr>
            <a:r>
              <a:t>How to Use: Decision Rule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Simple decision rule:</a:t>
            </a:r>
          </a:p>
          <a:p>
            <a:pPr marL="552450" indent="0">
              <a:buNone/>
              <a:defRPr sz="2400" b="1">
                <a:solidFill>
                  <a:srgbClr val="2ECC71"/>
                </a:solidFill>
              </a:defRPr>
            </a:pPr>
            <a:r>
              <a:rPr dirty="0"/>
              <a:t>IF </a:t>
            </a:r>
            <a:r>
              <a:rPr dirty="0" err="1"/>
              <a:t>Pr</a:t>
            </a:r>
            <a:r>
              <a:rPr dirty="0"/>
              <a:t>(F = good | G, N) &gt; 0.5</a:t>
            </a:r>
          </a:p>
          <a:p>
            <a:pPr marL="552450" indent="0">
              <a:buNone/>
              <a:defRPr sz="2800" b="1"/>
            </a:pPr>
            <a:r>
              <a:rPr dirty="0"/>
              <a:t>   → HIRE</a:t>
            </a:r>
          </a:p>
          <a:p>
            <a:pPr marL="552450" indent="0">
              <a:buNone/>
              <a:defRPr sz="2400" b="1">
                <a:solidFill>
                  <a:srgbClr val="E74C3C"/>
                </a:solidFill>
              </a:defRPr>
            </a:pPr>
            <a:r>
              <a:rPr dirty="0"/>
              <a:t>ELSE</a:t>
            </a:r>
          </a:p>
          <a:p>
            <a:pPr marL="552450" indent="0">
              <a:buNone/>
              <a:defRPr sz="2800" b="1"/>
            </a:pPr>
            <a:r>
              <a:rPr dirty="0"/>
              <a:t>   → REJECT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/>
            </a:pPr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200"/>
              </a:spcAft>
              <a:defRPr sz="2200" b="1"/>
            </a:pPr>
            <a:r>
              <a:rPr dirty="0"/>
              <a:t>Start with prior belief about candidate quality</a:t>
            </a:r>
          </a:p>
          <a:p>
            <a:pPr>
              <a:spcAft>
                <a:spcPts val="1200"/>
              </a:spcAft>
              <a:defRPr sz="2200" b="1"/>
            </a:pPr>
            <a:r>
              <a:rPr dirty="0"/>
              <a:t>Observe two referrals (R1, R2) and trust (T1, T2)</a:t>
            </a:r>
          </a:p>
          <a:p>
            <a:pPr>
              <a:spcAft>
                <a:spcPts val="1200"/>
              </a:spcAft>
              <a:defRPr sz="2200" b="1"/>
            </a:pPr>
            <a:r>
              <a:rPr dirty="0"/>
              <a:t>Select referral based on trust (trust overrides quality!)</a:t>
            </a:r>
          </a:p>
          <a:p>
            <a:pPr>
              <a:spcAft>
                <a:spcPts val="1200"/>
              </a:spcAft>
              <a:defRPr sz="2200" b="1"/>
            </a:pPr>
            <a:r>
              <a:rPr dirty="0"/>
              <a:t>Network effect G = selected referral quality</a:t>
            </a:r>
          </a:p>
          <a:p>
            <a:pPr>
              <a:spcAft>
                <a:spcPts val="1200"/>
              </a:spcAft>
              <a:defRPr sz="2200" b="1"/>
            </a:pPr>
            <a:r>
              <a:rPr dirty="0"/>
              <a:t>Use Bayes' theorem to get </a:t>
            </a:r>
            <a:r>
              <a:rPr dirty="0" err="1"/>
              <a:t>Pr</a:t>
            </a:r>
            <a:r>
              <a:rPr dirty="0"/>
              <a:t>(F = good | G, N)</a:t>
            </a:r>
          </a:p>
          <a:p>
            <a:pPr>
              <a:spcAft>
                <a:spcPts val="1200"/>
              </a:spcAft>
              <a:defRPr sz="2200" b="1"/>
            </a:pPr>
            <a:r>
              <a:rPr dirty="0"/>
              <a:t>Make hiring decision based on probability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5400" b="1"/>
            </a:pPr>
            <a:r>
              <a:t>Thank You!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3200"/>
            </a:pPr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628</Words>
  <Application>Microsoft Macintosh PowerPoint</Application>
  <PresentationFormat>On-screen Show (4:3)</PresentationFormat>
  <Paragraphs>86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Referral-Based Hiring Model</vt:lpstr>
      <vt:lpstr>The Hiring Challenge with Referrals</vt:lpstr>
      <vt:lpstr>PowerPoint Presentation</vt:lpstr>
      <vt:lpstr>Step 1: Start with Prior Belief</vt:lpstr>
      <vt:lpstr>Step 2: Referral Quality Signal</vt:lpstr>
      <vt:lpstr>Step 3: Trust-Based Referral Selection</vt:lpstr>
      <vt:lpstr>Step 4:  Network Effect = Selected Referral</vt:lpstr>
      <vt:lpstr>Step 5: Publication Count Signal</vt:lpstr>
      <vt:lpstr>Step 6: Combine Signals with Bayes' Theorem</vt:lpstr>
      <vt:lpstr>The Result: Probability Matrix</vt:lpstr>
      <vt:lpstr>Real Examples: Four Candidates</vt:lpstr>
      <vt:lpstr>Key Insights</vt:lpstr>
      <vt:lpstr>How to Use: Decision Rule</vt:lpstr>
      <vt:lpstr>Summary</vt:lpstr>
      <vt:lpstr>Thank You!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Lisette Espin</cp:lastModifiedBy>
  <cp:revision>6</cp:revision>
  <dcterms:created xsi:type="dcterms:W3CDTF">2013-01-27T09:14:16Z</dcterms:created>
  <dcterms:modified xsi:type="dcterms:W3CDTF">2026-01-20T21:48:00Z</dcterms:modified>
  <cp:category/>
</cp:coreProperties>
</file>