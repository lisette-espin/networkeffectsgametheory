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70" r:id="rId13"/>
    <p:sldId id="267" r:id="rId14"/>
    <p:sldId id="271" r:id="rId15"/>
    <p:sldId id="272" r:id="rId16"/>
    <p:sldId id="273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03"/>
    <p:restoredTop sz="94673"/>
  </p:normalViewPr>
  <p:slideViewPr>
    <p:cSldViewPr snapToGrid="0" snapToObjects="1">
      <p:cViewPr varScale="1">
        <p:scale>
          <a:sx n="124" d="100"/>
          <a:sy n="124" d="100"/>
        </p:scale>
        <p:origin x="11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rPr lang="en-US" sz="4600" dirty="0"/>
              <a:t>Chaperon-Based</a:t>
            </a:r>
            <a:r>
              <a:rPr sz="4600" dirty="0"/>
              <a:t> Hiring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rPr dirty="0"/>
              <a:t>Using </a:t>
            </a:r>
            <a:r>
              <a:rPr lang="en-US" b="1" dirty="0"/>
              <a:t>Chaperon</a:t>
            </a:r>
            <a:r>
              <a:rPr b="1" dirty="0"/>
              <a:t> Effect</a:t>
            </a:r>
            <a:r>
              <a:rPr dirty="0"/>
              <a:t> and </a:t>
            </a:r>
            <a:r>
              <a:rPr b="1" dirty="0"/>
              <a:t>Publication Count</a:t>
            </a:r>
          </a:p>
          <a:p>
            <a:r>
              <a:rPr dirty="0"/>
              <a:t>To </a:t>
            </a:r>
            <a:r>
              <a:rPr lang="en-US" dirty="0"/>
              <a:t>Better Understand</a:t>
            </a:r>
            <a:r>
              <a:rPr dirty="0"/>
              <a:t> Decision</a:t>
            </a:r>
            <a:r>
              <a:rPr lang="en-US" dirty="0"/>
              <a:t>s </a:t>
            </a:r>
          </a:p>
          <a:p>
            <a:r>
              <a:rPr lang="en-US" dirty="0"/>
              <a:t>in Hiring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3D271B-7D67-652D-81A3-6AB668231BB7}"/>
              </a:ext>
            </a:extLst>
          </p:cNvPr>
          <p:cNvSpPr txBox="1"/>
          <p:nvPr/>
        </p:nvSpPr>
        <p:spPr>
          <a:xfrm>
            <a:off x="2466102" y="619035"/>
            <a:ext cx="42117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T" sz="3600" b="1" dirty="0"/>
              <a:t>Network Fair Process</a:t>
            </a:r>
          </a:p>
          <a:p>
            <a:pPr algn="ctr"/>
            <a:r>
              <a:rPr lang="en-AT" sz="3600" dirty="0"/>
              <a:t>Group #1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The Hiring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rPr dirty="0"/>
              <a:t>You need to hire the best candidates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But you can't directly observe their true quality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You only see signals:</a:t>
            </a:r>
          </a:p>
          <a:p>
            <a:pPr lvl="1">
              <a:spcAft>
                <a:spcPts val="1200"/>
              </a:spcAft>
              <a:defRPr sz="1800"/>
            </a:pPr>
            <a:r>
              <a:rPr dirty="0"/>
              <a:t>   Network effect (G): Did they work with top researchers?</a:t>
            </a:r>
          </a:p>
          <a:p>
            <a:pPr lvl="1">
              <a:spcAft>
                <a:spcPts val="1200"/>
              </a:spcAft>
              <a:defRPr sz="1800"/>
            </a:pPr>
            <a:r>
              <a:rPr dirty="0"/>
              <a:t>   Publication count (N): How many papers did they publish?</a:t>
            </a:r>
          </a:p>
          <a:p>
            <a:pPr>
              <a:spcAft>
                <a:spcPts val="1200"/>
              </a:spcAft>
              <a:defRPr sz="1800" b="1"/>
            </a:pPr>
            <a:r>
              <a:rPr dirty="0"/>
              <a:t>Solution: Bayesian inference to combine signals!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What We're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2857" y="2394857"/>
            <a:ext cx="1371600" cy="73152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F (Fit)</a:t>
            </a:r>
          </a:p>
          <a:p>
            <a:r>
              <a:t>Hidden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4857" y="2394857"/>
            <a:ext cx="1371600" cy="731520"/>
          </a:xfrm>
          <a:prstGeom prst="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rPr dirty="0"/>
              <a:t>N (Papers)</a:t>
            </a:r>
          </a:p>
          <a:p>
            <a:r>
              <a:rPr dirty="0"/>
              <a:t>Observed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04457" y="2760617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04457" y="2760617"/>
            <a:ext cx="3200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15408" y="4017109"/>
            <a:ext cx="671318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sz="3600" dirty="0"/>
              <a:t>Goal: Compute </a:t>
            </a:r>
            <a:r>
              <a:rPr sz="3600" dirty="0" err="1"/>
              <a:t>Pr</a:t>
            </a:r>
            <a:r>
              <a:rPr sz="3600" dirty="0"/>
              <a:t>(F = good | G, 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918857" y="2394857"/>
            <a:ext cx="1371600" cy="731520"/>
          </a:xfrm>
          <a:prstGeom prst="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rPr dirty="0"/>
              <a:t>G (Network)</a:t>
            </a:r>
          </a:p>
          <a:p>
            <a:r>
              <a:rPr dirty="0"/>
              <a:t>Observed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Step 1: Start with Prior Belief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Before seeing any signals, we have an initial belief:</a:t>
            </a:r>
          </a:p>
          <a:p>
            <a:pPr>
              <a:defRPr sz="2400" b="1">
                <a:solidFill>
                  <a:srgbClr val="003366"/>
                </a:solidFill>
              </a:defRPr>
            </a:pPr>
            <a:r>
              <a:rPr dirty="0" err="1"/>
              <a:t>Pr</a:t>
            </a:r>
            <a:r>
              <a:rPr dirty="0"/>
              <a:t>(F = good) = p = 0.5</a:t>
            </a:r>
          </a:p>
          <a:p>
            <a:pPr lvl="1">
              <a:defRPr sz="1800"/>
            </a:pPr>
            <a:r>
              <a:rPr dirty="0"/>
              <a:t>This means: 50% of candidates are good (on average)</a:t>
            </a:r>
            <a:endParaRPr lang="en-US" dirty="0"/>
          </a:p>
          <a:p>
            <a:pPr>
              <a:defRPr sz="2400" b="1">
                <a:solidFill>
                  <a:srgbClr val="003366"/>
                </a:solidFill>
              </a:defRPr>
            </a:pPr>
            <a:r>
              <a:rPr lang="en-GB" sz="2400" b="1" dirty="0" err="1">
                <a:solidFill>
                  <a:srgbClr val="003366"/>
                </a:solidFill>
              </a:rPr>
              <a:t>Pr</a:t>
            </a:r>
            <a:r>
              <a:rPr lang="en-GB" sz="2400" b="1" dirty="0">
                <a:solidFill>
                  <a:srgbClr val="003366"/>
                </a:solidFill>
              </a:rPr>
              <a:t>(F = bad) = 1 – </a:t>
            </a:r>
            <a:r>
              <a:rPr lang="en-GB" sz="2400" b="1" dirty="0" err="1">
                <a:solidFill>
                  <a:srgbClr val="003366"/>
                </a:solidFill>
              </a:rPr>
              <a:t>Pr</a:t>
            </a:r>
            <a:r>
              <a:rPr lang="en-GB" sz="2400" b="1" dirty="0">
                <a:solidFill>
                  <a:srgbClr val="003366"/>
                </a:solidFill>
              </a:rPr>
              <a:t>(F = good)</a:t>
            </a:r>
            <a:endParaRPr dirty="0"/>
          </a:p>
        </p:txBody>
      </p:sp>
      <p:pic>
        <p:nvPicPr>
          <p:cNvPr id="4" name="Picture 3" descr="temp_prior.png"/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4931229" y="3674382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Step 2: Network Effect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Network effect tells us about candidate quality</a:t>
            </a:r>
            <a:r>
              <a:rPr lang="en-US" dirty="0"/>
              <a:t> (follows a Bernoulli distribution)</a:t>
            </a:r>
            <a:r>
              <a:rPr dirty="0"/>
              <a:t>:</a:t>
            </a:r>
          </a:p>
          <a:p>
            <a:pPr marL="357188" indent="0">
              <a:buNone/>
              <a:defRPr sz="1800">
                <a:solidFill>
                  <a:srgbClr val="2ECC71"/>
                </a:solidFill>
              </a:defRPr>
            </a:pPr>
            <a:r>
              <a:rPr dirty="0"/>
              <a:t>• Good candidates: 70% have network (</a:t>
            </a:r>
            <a:r>
              <a:rPr dirty="0" err="1"/>
              <a:t>q_good</a:t>
            </a:r>
            <a:r>
              <a:rPr dirty="0"/>
              <a:t> = 0.7)</a:t>
            </a:r>
          </a:p>
          <a:p>
            <a:pPr marL="357188" indent="0">
              <a:buNone/>
              <a:defRPr sz="1800">
                <a:solidFill>
                  <a:srgbClr val="E74C3C"/>
                </a:solidFill>
              </a:defRPr>
            </a:pPr>
            <a:r>
              <a:rPr dirty="0"/>
              <a:t>• Bad candidates: 30% have network (</a:t>
            </a:r>
            <a:r>
              <a:rPr dirty="0" err="1"/>
              <a:t>q_bad</a:t>
            </a:r>
            <a:r>
              <a:rPr dirty="0"/>
              <a:t> = 0.3)</a:t>
            </a:r>
          </a:p>
          <a:p>
            <a:pPr marL="357188" indent="0">
              <a:defRPr sz="1800" b="1"/>
            </a:pPr>
            <a:r>
              <a:rPr lang="en-US" dirty="0"/>
              <a:t>  </a:t>
            </a:r>
            <a:r>
              <a:rPr dirty="0"/>
              <a:t>Network effect is a stronger signal for good candidates!</a:t>
            </a:r>
            <a:r>
              <a:rPr lang="en-US" dirty="0"/>
              <a:t>  </a:t>
            </a:r>
            <a:r>
              <a:rPr lang="en-GB" dirty="0" err="1"/>
              <a:t>q_good</a:t>
            </a:r>
            <a:r>
              <a:rPr lang="en-GB" dirty="0"/>
              <a:t> &gt; </a:t>
            </a:r>
            <a:r>
              <a:rPr lang="en-GB" dirty="0" err="1"/>
              <a:t>q_bad</a:t>
            </a:r>
            <a:endParaRPr dirty="0"/>
          </a:p>
        </p:txBody>
      </p:sp>
      <p:pic>
        <p:nvPicPr>
          <p:cNvPr id="4" name="Picture 3" descr="temp_prior.png">
            <a:extLst>
              <a:ext uri="{FF2B5EF4-FFF2-40B4-BE49-F238E27FC236}">
                <a16:creationId xmlns:a16="http://schemas.microsoft.com/office/drawing/2014/main" id="{E4E3BC53-FED6-25B6-A395-A39713A33A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914400" y="38862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Step 3: Publication Count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Publication count follows Poisson distribution:</a:t>
            </a:r>
          </a:p>
          <a:p>
            <a:pPr marL="400050" indent="0">
              <a:buNone/>
              <a:defRPr sz="1800">
                <a:solidFill>
                  <a:srgbClr val="2ECC71"/>
                </a:solidFill>
              </a:defRPr>
            </a:pPr>
            <a:r>
              <a:rPr dirty="0"/>
              <a:t>• Good candidates: Average 5 papers (</a:t>
            </a:r>
            <a:r>
              <a:rPr dirty="0" err="1"/>
              <a:t>λ_good</a:t>
            </a:r>
            <a:r>
              <a:rPr dirty="0"/>
              <a:t> = 5.0)</a:t>
            </a:r>
          </a:p>
          <a:p>
            <a:pPr marL="400050" indent="0">
              <a:buNone/>
              <a:defRPr sz="1800">
                <a:solidFill>
                  <a:srgbClr val="E74C3C"/>
                </a:solidFill>
              </a:defRPr>
            </a:pPr>
            <a:r>
              <a:rPr dirty="0"/>
              <a:t>• Bad candidates: Average 2 papers (</a:t>
            </a:r>
            <a:r>
              <a:rPr dirty="0" err="1"/>
              <a:t>λ_bad</a:t>
            </a:r>
            <a:r>
              <a:rPr dirty="0"/>
              <a:t> = 2.0)</a:t>
            </a:r>
          </a:p>
        </p:txBody>
      </p:sp>
      <p:pic>
        <p:nvPicPr>
          <p:cNvPr id="4" name="Picture 3" descr="temp_pois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04457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/>
            </a:pPr>
            <a:r>
              <a:t>Step 4: Combine Signals with Bayes'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Bayes' Theorem combines prior and signals:</a:t>
            </a:r>
            <a:endParaRPr lang="en-US" dirty="0"/>
          </a:p>
          <a:p>
            <a:pPr marL="0" indent="0" algn="ctr">
              <a:buNone/>
              <a:defRPr sz="2000"/>
            </a:pPr>
            <a:r>
              <a:rPr lang="en-GB" sz="2800" dirty="0">
                <a:solidFill>
                  <a:schemeClr val="tx2"/>
                </a:solidFill>
              </a:rPr>
              <a:t>Updated Belief = Prior × Likelihood / Evidence</a:t>
            </a:r>
          </a:p>
          <a:p>
            <a:pPr marL="0" indent="0">
              <a:buNone/>
              <a:defRPr sz="2000"/>
            </a:pPr>
            <a:endParaRPr lang="en-GB" dirty="0">
              <a:solidFill>
                <a:schemeClr val="tx2"/>
              </a:solidFill>
            </a:endParaRPr>
          </a:p>
          <a:p>
            <a:pPr marL="0" indent="0" algn="ctr">
              <a:buNone/>
              <a:defRPr sz="2000"/>
            </a:pPr>
            <a:r>
              <a:rPr lang="en-GB" dirty="0" err="1"/>
              <a:t>Pr</a:t>
            </a:r>
            <a:r>
              <a:rPr lang="en-GB" dirty="0"/>
              <a:t>(F = good | G, N) = </a:t>
            </a:r>
            <a:r>
              <a:rPr lang="en-GB" dirty="0" err="1"/>
              <a:t>Pr</a:t>
            </a:r>
            <a:r>
              <a:rPr lang="en-GB" dirty="0"/>
              <a:t>(good) × </a:t>
            </a:r>
            <a:r>
              <a:rPr lang="en-GB" dirty="0" err="1"/>
              <a:t>Pr</a:t>
            </a:r>
            <a:r>
              <a:rPr lang="en-GB" dirty="0"/>
              <a:t>(G, N | good)</a:t>
            </a:r>
          </a:p>
          <a:p>
            <a:pPr marL="457200" lvl="1" indent="0" algn="ctr">
              <a:buNone/>
              <a:defRPr sz="1800"/>
            </a:pPr>
            <a:r>
              <a:rPr lang="en-GB" dirty="0"/>
              <a:t>                                    ─────────────────────────</a:t>
            </a:r>
          </a:p>
          <a:p>
            <a:pPr marL="457200" lvl="1" indent="0" algn="ctr">
              <a:buNone/>
              <a:defRPr sz="1800"/>
            </a:pPr>
            <a:r>
              <a:rPr lang="en-GB" dirty="0"/>
              <a:t>                        </a:t>
            </a:r>
            <a:r>
              <a:rPr lang="en-GB" dirty="0" err="1"/>
              <a:t>Pr</a:t>
            </a:r>
            <a:r>
              <a:rPr lang="en-GB" dirty="0"/>
              <a:t>(G, N)</a:t>
            </a:r>
            <a:endParaRPr lang="en-AT" dirty="0"/>
          </a:p>
          <a:p>
            <a:r>
              <a:rPr lang="en-AT" dirty="0"/>
              <a:t>We assume that G and N are independent</a:t>
            </a:r>
            <a:endParaRPr dirty="0"/>
          </a:p>
          <a:p>
            <a:pPr marL="457200" lvl="1" indent="0" algn="ctr">
              <a:buNone/>
              <a:defRPr sz="1800"/>
            </a:pPr>
            <a:endParaRPr lang="en-AT" dirty="0"/>
          </a:p>
          <a:p>
            <a:pPr marL="457200" lvl="1" indent="0" algn="ctr">
              <a:buNone/>
              <a:defRPr sz="1800"/>
            </a:pPr>
            <a:r>
              <a:rPr lang="en-GB" dirty="0" err="1"/>
              <a:t>Pr</a:t>
            </a:r>
            <a:r>
              <a:rPr lang="en-GB" dirty="0"/>
              <a:t>(G, N | good)</a:t>
            </a:r>
            <a:r>
              <a:rPr lang="en-US" dirty="0"/>
              <a:t> = </a:t>
            </a:r>
            <a:r>
              <a:rPr lang="en-US" dirty="0" err="1"/>
              <a:t>Pr</a:t>
            </a:r>
            <a:r>
              <a:rPr lang="en-US" dirty="0"/>
              <a:t>(</a:t>
            </a:r>
            <a:r>
              <a:rPr lang="en-US" dirty="0" err="1"/>
              <a:t>G|good</a:t>
            </a:r>
            <a:r>
              <a:rPr lang="en-US" dirty="0"/>
              <a:t>) </a:t>
            </a:r>
            <a:r>
              <a:rPr lang="en-US" dirty="0" err="1"/>
              <a:t>Pr</a:t>
            </a:r>
            <a:r>
              <a:rPr lang="en-US" dirty="0"/>
              <a:t>(</a:t>
            </a:r>
            <a:r>
              <a:rPr lang="en-US" dirty="0" err="1"/>
              <a:t>N|good</a:t>
            </a:r>
            <a:r>
              <a:rPr lang="en-US" dirty="0"/>
              <a:t>)</a:t>
            </a:r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The Result: Probability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dirty="0"/>
              <a:t>For each combination of signals, we compute the probability</a:t>
            </a:r>
            <a:r>
              <a:rPr lang="en-US" dirty="0"/>
              <a:t> of being a “good” candidate</a:t>
            </a:r>
            <a:r>
              <a:rPr dirty="0"/>
              <a:t>:</a:t>
            </a:r>
          </a:p>
          <a:p>
            <a:pPr marL="987425" indent="-336550">
              <a:defRPr sz="1800"/>
            </a:pPr>
            <a:r>
              <a:rPr dirty="0"/>
              <a:t>Rows: </a:t>
            </a:r>
            <a:r>
              <a:rPr lang="en-US" dirty="0"/>
              <a:t>Chaperon</a:t>
            </a:r>
            <a:r>
              <a:rPr dirty="0"/>
              <a:t> effect (Yes/No)</a:t>
            </a:r>
          </a:p>
          <a:p>
            <a:pPr marL="987425" indent="-336550">
              <a:defRPr sz="1800"/>
            </a:pPr>
            <a:r>
              <a:rPr dirty="0"/>
              <a:t>Columns: Number of papers (1-10)</a:t>
            </a:r>
          </a:p>
          <a:p>
            <a:pPr marL="987425" indent="-336550">
              <a:defRPr sz="1800" b="1"/>
            </a:pPr>
            <a:r>
              <a:rPr dirty="0"/>
              <a:t>Values: </a:t>
            </a:r>
            <a:r>
              <a:rPr dirty="0" err="1"/>
              <a:t>Pr</a:t>
            </a:r>
            <a:r>
              <a:rPr dirty="0"/>
              <a:t>(F = good | G, N)</a:t>
            </a:r>
          </a:p>
        </p:txBody>
      </p:sp>
      <p:pic>
        <p:nvPicPr>
          <p:cNvPr id="4" name="Picture 3" descr="tem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46248"/>
            <a:ext cx="8229600" cy="3200400"/>
          </a:xfrm>
          <a:prstGeom prst="rect">
            <a:avLst/>
          </a:prstGeom>
        </p:spPr>
      </p:pic>
      <p:sp>
        <p:nvSpPr>
          <p:cNvPr id="5" name="Down Arrow 4">
            <a:extLst>
              <a:ext uri="{FF2B5EF4-FFF2-40B4-BE49-F238E27FC236}">
                <a16:creationId xmlns:a16="http://schemas.microsoft.com/office/drawing/2014/main" id="{DB914FA4-9C08-454E-B13B-DAD7FB8D1050}"/>
              </a:ext>
            </a:extLst>
          </p:cNvPr>
          <p:cNvSpPr/>
          <p:nvPr/>
        </p:nvSpPr>
        <p:spPr>
          <a:xfrm rot="13468933">
            <a:off x="3243942" y="5970987"/>
            <a:ext cx="448153" cy="904762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617A-B377-15A9-1049-536536E22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7CDB-D601-F376-C873-8E9CCC0CC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rPr lang="en-US" dirty="0"/>
              <a:t>Interpretation</a:t>
            </a:r>
            <a:endParaRPr dirty="0"/>
          </a:p>
        </p:txBody>
      </p:sp>
      <p:pic>
        <p:nvPicPr>
          <p:cNvPr id="4" name="Picture 3" descr="temp_heatmap.png">
            <a:extLst>
              <a:ext uri="{FF2B5EF4-FFF2-40B4-BE49-F238E27FC236}">
                <a16:creationId xmlns:a16="http://schemas.microsoft.com/office/drawing/2014/main" id="{311B11CF-6B56-9C32-D1EF-9245E31A7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3200400"/>
          </a:xfrm>
          <a:prstGeom prst="rect">
            <a:avLst/>
          </a:prstGeom>
        </p:spPr>
      </p:pic>
      <p:sp>
        <p:nvSpPr>
          <p:cNvPr id="5" name="Down Arrow 4">
            <a:extLst>
              <a:ext uri="{FF2B5EF4-FFF2-40B4-BE49-F238E27FC236}">
                <a16:creationId xmlns:a16="http://schemas.microsoft.com/office/drawing/2014/main" id="{C18CB631-EFB0-5864-5E42-6BB42DFD1E11}"/>
              </a:ext>
            </a:extLst>
          </p:cNvPr>
          <p:cNvSpPr/>
          <p:nvPr/>
        </p:nvSpPr>
        <p:spPr>
          <a:xfrm rot="10800000">
            <a:off x="3701142" y="4414330"/>
            <a:ext cx="448153" cy="904762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D2DBB3-37A2-D445-B280-9D402F140E17}"/>
              </a:ext>
            </a:extLst>
          </p:cNvPr>
          <p:cNvSpPr txBox="1"/>
          <p:nvPr/>
        </p:nvSpPr>
        <p:spPr>
          <a:xfrm>
            <a:off x="1059049" y="5468650"/>
            <a:ext cx="57323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sz="3200" dirty="0"/>
              <a:t>5 papers are worth 3 chaperoned</a:t>
            </a:r>
          </a:p>
        </p:txBody>
      </p:sp>
    </p:spTree>
    <p:extLst>
      <p:ext uri="{BB962C8B-B14F-4D97-AF65-F5344CB8AC3E}">
        <p14:creationId xmlns:p14="http://schemas.microsoft.com/office/powerpoint/2010/main" val="906735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Real Examples: Four Candidates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temp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Network effect is powerful:</a:t>
            </a:r>
            <a:endParaRPr lang="en-US" dirty="0"/>
          </a:p>
          <a:p>
            <a:pPr lvl="1"/>
            <a:r>
              <a:rPr dirty="0"/>
              <a:t>Candidates with network + few papers can still be good</a:t>
            </a:r>
            <a:endParaRPr lang="en-US" dirty="0"/>
          </a:p>
          <a:p>
            <a:r>
              <a:rPr dirty="0"/>
              <a:t>Many papers help, but network matters more:</a:t>
            </a:r>
            <a:endParaRPr lang="en-US" dirty="0"/>
          </a:p>
          <a:p>
            <a:pPr lvl="1"/>
            <a:r>
              <a:rPr dirty="0"/>
              <a:t>No network + many papers = moderate probability</a:t>
            </a:r>
            <a:endParaRPr lang="en-US" dirty="0"/>
          </a:p>
          <a:p>
            <a:r>
              <a:rPr dirty="0">
                <a:solidFill>
                  <a:srgbClr val="FF0000"/>
                </a:solidFill>
              </a:rPr>
              <a:t>Weakest signal: No network + few papers</a:t>
            </a:r>
            <a:endParaRPr lang="en-US" dirty="0">
              <a:solidFill>
                <a:srgbClr val="FF0000"/>
              </a:solidFill>
            </a:endParaRPr>
          </a:p>
          <a:p>
            <a:r>
              <a:rPr dirty="0">
                <a:solidFill>
                  <a:srgbClr val="00B050"/>
                </a:solidFill>
              </a:rPr>
              <a:t>Strongest signal: Network + many papers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Beyond Probabilities: Payoffs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Hiring decisions involve costs and benefits:</a:t>
            </a:r>
          </a:p>
          <a:p>
            <a:pPr marL="1030288" indent="-401638">
              <a:defRPr sz="1800">
                <a:solidFill>
                  <a:srgbClr val="2ECC71"/>
                </a:solidFill>
              </a:defRPr>
            </a:pPr>
            <a:r>
              <a:rPr dirty="0"/>
              <a:t>B = Payoff from hiring a GOOD candidate (e.g., 10)</a:t>
            </a:r>
          </a:p>
          <a:p>
            <a:pPr marL="1030288" indent="-401638">
              <a:defRPr sz="1800">
                <a:solidFill>
                  <a:srgbClr val="E74C3C"/>
                </a:solidFill>
              </a:defRPr>
            </a:pPr>
            <a:r>
              <a:rPr dirty="0"/>
              <a:t>b = Payoff from hiring a BAD candidate (e.g., </a:t>
            </a:r>
            <a:r>
              <a:rPr lang="en-US" dirty="0"/>
              <a:t>-</a:t>
            </a:r>
            <a:r>
              <a:rPr dirty="0"/>
              <a:t>2)</a:t>
            </a:r>
          </a:p>
          <a:p>
            <a:pPr marL="1030288" indent="-401638">
              <a:defRPr sz="1800">
                <a:solidFill>
                  <a:srgbClr val="3498DB"/>
                </a:solidFill>
              </a:defRPr>
            </a:pPr>
            <a:r>
              <a:rPr dirty="0"/>
              <a:t>w = Applicant payoff if hired (e.g., 5)</a:t>
            </a:r>
          </a:p>
        </p:txBody>
      </p:sp>
      <p:pic>
        <p:nvPicPr>
          <p:cNvPr id="5" name="Picture 4" descr="temp_payoffs.png">
            <a:extLst>
              <a:ext uri="{FF2B5EF4-FFF2-40B4-BE49-F238E27FC236}">
                <a16:creationId xmlns:a16="http://schemas.microsoft.com/office/drawing/2014/main" id="{15DDAAB7-090D-EA6F-CFD2-E6BE5C5A9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Expected Payoff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Expected Payoff = Weighted average of possible outcomes:</a:t>
            </a:r>
            <a:endParaRPr lang="en-GB" sz="2400" dirty="0"/>
          </a:p>
          <a:p>
            <a:pPr marL="457200" lvl="1" indent="0" algn="ctr">
              <a:buNone/>
              <a:defRPr sz="2200" b="1">
                <a:solidFill>
                  <a:srgbClr val="003366"/>
                </a:solidFill>
              </a:defRPr>
            </a:pPr>
            <a:r>
              <a:rPr lang="en-GB" sz="2400" dirty="0"/>
              <a:t>E[Payoff] = B × </a:t>
            </a:r>
            <a:r>
              <a:rPr lang="en-GB" sz="2400" dirty="0" err="1"/>
              <a:t>Pr</a:t>
            </a:r>
            <a:r>
              <a:rPr lang="en-GB" sz="2400" dirty="0"/>
              <a:t>(Good) + b × </a:t>
            </a:r>
            <a:r>
              <a:rPr lang="en-GB" sz="2400" dirty="0" err="1"/>
              <a:t>Pr</a:t>
            </a:r>
            <a:r>
              <a:rPr lang="en-GB" sz="2400" dirty="0"/>
              <a:t>(Bad)</a:t>
            </a:r>
          </a:p>
          <a:p>
            <a:pPr>
              <a:defRPr sz="1800"/>
            </a:pPr>
            <a:r>
              <a:rPr sz="2400" dirty="0"/>
              <a:t>Or equivalently:</a:t>
            </a:r>
          </a:p>
          <a:p>
            <a:pPr marL="0" indent="0" algn="ctr">
              <a:buNone/>
              <a:defRPr sz="2000" b="1"/>
            </a:pPr>
            <a:r>
              <a:rPr sz="2400" dirty="0"/>
              <a:t>E[Payoff] = b + (B - b) × </a:t>
            </a:r>
            <a:r>
              <a:rPr sz="2400" dirty="0" err="1"/>
              <a:t>Pr</a:t>
            </a:r>
            <a:r>
              <a:rPr sz="2400" dirty="0"/>
              <a:t>(Good)</a:t>
            </a:r>
          </a:p>
          <a:p>
            <a:pPr>
              <a:defRPr sz="1800"/>
            </a:pPr>
            <a:r>
              <a:rPr sz="2400" dirty="0"/>
              <a:t>Example: </a:t>
            </a:r>
            <a:br>
              <a:rPr lang="en-US" sz="2400" dirty="0"/>
            </a:br>
            <a:r>
              <a:rPr sz="2400" dirty="0"/>
              <a:t>If </a:t>
            </a:r>
            <a:r>
              <a:rPr sz="2400" dirty="0" err="1"/>
              <a:t>Pr</a:t>
            </a:r>
            <a:r>
              <a:rPr sz="2400" dirty="0"/>
              <a:t>(Good) = 0.6, B = 10, b = 2</a:t>
            </a:r>
            <a:endParaRPr lang="en-GB" sz="2400" dirty="0"/>
          </a:p>
          <a:p>
            <a:pPr marL="801688" indent="-334963">
              <a:defRPr sz="1800" b="1">
                <a:solidFill>
                  <a:srgbClr val="2ECC71"/>
                </a:solidFill>
              </a:defRPr>
            </a:pPr>
            <a:r>
              <a:rPr lang="en-GB" sz="2400" dirty="0"/>
              <a:t>E[Payoff] = 2 + (10 - 2) × 0.6 = 6.8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Expected Payoff: Real Examples</a:t>
            </a:r>
          </a:p>
        </p:txBody>
      </p:sp>
      <p:pic>
        <p:nvPicPr>
          <p:cNvPr id="5" name="Picture 4" descr="temp_expected_payoff.png">
            <a:extLst>
              <a:ext uri="{FF2B5EF4-FFF2-40B4-BE49-F238E27FC236}">
                <a16:creationId xmlns:a16="http://schemas.microsoft.com/office/drawing/2014/main" id="{1B7B3838-F83C-A0B6-D579-01D7D37E4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2858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Two Decision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Approach 1: Probability-Based</a:t>
            </a:r>
          </a:p>
          <a:p>
            <a:pPr marL="933450" indent="-336550">
              <a:defRPr sz="2000" b="1">
                <a:solidFill>
                  <a:srgbClr val="2ECC71"/>
                </a:solidFill>
              </a:defRPr>
            </a:pPr>
            <a:r>
              <a:rPr dirty="0"/>
              <a:t>IF </a:t>
            </a:r>
            <a:r>
              <a:rPr dirty="0" err="1"/>
              <a:t>Pr</a:t>
            </a:r>
            <a:r>
              <a:rPr dirty="0"/>
              <a:t>(F = good | G, N) &gt; 0.5 → HIRE</a:t>
            </a:r>
          </a:p>
          <a:p>
            <a:pPr marL="933450" indent="-336550">
              <a:defRPr sz="2000" b="1">
                <a:solidFill>
                  <a:srgbClr val="E74C3C"/>
                </a:solidFill>
              </a:defRPr>
            </a:pPr>
            <a:r>
              <a:rPr dirty="0"/>
              <a:t>ELSE → REJECT</a:t>
            </a:r>
          </a:p>
          <a:p>
            <a:pPr marL="933450" indent="-336550">
              <a:defRPr sz="1800"/>
            </a:pPr>
            <a:r>
              <a:rPr dirty="0"/>
              <a:t>✓ Simple and intuitive</a:t>
            </a:r>
          </a:p>
          <a:p>
            <a:pPr marL="933450" indent="-336550">
              <a:defRPr sz="1800"/>
            </a:pPr>
            <a:r>
              <a:rPr dirty="0"/>
              <a:t>✗ Assumes symmetric costs</a:t>
            </a:r>
            <a:endParaRPr lang="en-US" dirty="0"/>
          </a:p>
          <a:p>
            <a:pPr marL="596900" indent="0">
              <a:buNone/>
              <a:defRPr sz="1800"/>
            </a:pPr>
            <a:endParaRPr dirty="0"/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rPr sz="2800" dirty="0"/>
              <a:t>Approach 2: Payoff-Based</a:t>
            </a:r>
          </a:p>
          <a:p>
            <a:pPr marL="987425" indent="-401638">
              <a:defRPr sz="2000" b="1">
                <a:solidFill>
                  <a:srgbClr val="2ECC71"/>
                </a:solidFill>
              </a:defRPr>
            </a:pPr>
            <a:r>
              <a:rPr dirty="0"/>
              <a:t>IF E[Payoff] &gt; 0 → HIRE</a:t>
            </a:r>
          </a:p>
          <a:p>
            <a:pPr marL="987425" indent="-401638">
              <a:defRPr sz="2000" b="1">
                <a:solidFill>
                  <a:srgbClr val="E74C3C"/>
                </a:solidFill>
              </a:defRPr>
            </a:pPr>
            <a:r>
              <a:rPr dirty="0"/>
              <a:t>ELSE → REJECT</a:t>
            </a:r>
          </a:p>
          <a:p>
            <a:pPr marL="987425" indent="-401638">
              <a:defRPr sz="1800"/>
            </a:pPr>
            <a:r>
              <a:rPr dirty="0"/>
              <a:t>✓ Accounts for different costs/benefits</a:t>
            </a:r>
          </a:p>
          <a:p>
            <a:pPr marL="987425" indent="-401638">
              <a:defRPr sz="1800"/>
            </a:pPr>
            <a:r>
              <a:rPr dirty="0"/>
              <a:t>✓ More realistic for actual decisions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When Do Decisions Differ?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Example: Candidate with </a:t>
            </a:r>
            <a:r>
              <a:rPr sz="2800" dirty="0" err="1"/>
              <a:t>Pr</a:t>
            </a:r>
            <a:r>
              <a:rPr sz="2800" dirty="0"/>
              <a:t>(Good) = 0.55</a:t>
            </a:r>
          </a:p>
          <a:p>
            <a:pPr lvl="1">
              <a:defRPr sz="1800">
                <a:solidFill>
                  <a:srgbClr val="2ECC71"/>
                </a:solidFill>
              </a:defRPr>
            </a:pPr>
            <a:r>
              <a:rPr sz="2000" dirty="0"/>
              <a:t>Probability-based: HIRE (55% &gt; 50%)</a:t>
            </a:r>
          </a:p>
          <a:p>
            <a:pPr lvl="1"/>
            <a:endParaRPr sz="2000" dirty="0"/>
          </a:p>
          <a:p>
            <a:pPr lvl="1">
              <a:defRPr sz="1800"/>
            </a:pPr>
            <a:r>
              <a:rPr sz="2000" dirty="0"/>
              <a:t>Payoff-based (B=10, b=2):</a:t>
            </a:r>
          </a:p>
          <a:p>
            <a:pPr lvl="1">
              <a:defRPr sz="1800" b="1"/>
            </a:pPr>
            <a:r>
              <a:rPr sz="2000" dirty="0"/>
              <a:t>E[Payoff] = 2 + 8 × 0.55 = 6.4 &gt; 0 → HIRE</a:t>
            </a:r>
          </a:p>
          <a:p>
            <a:pPr lvl="1"/>
            <a:endParaRPr sz="2000" dirty="0"/>
          </a:p>
          <a:p>
            <a:pPr lvl="1">
              <a:defRPr sz="1800"/>
            </a:pPr>
            <a:r>
              <a:rPr sz="2000" dirty="0"/>
              <a:t>Payoff-based (B=10, b=-10):</a:t>
            </a:r>
          </a:p>
          <a:p>
            <a:pPr lvl="1">
              <a:defRPr sz="1800" b="1"/>
            </a:pPr>
            <a:r>
              <a:rPr sz="2000" dirty="0"/>
              <a:t>E[Payoff] = -10 + 20 × 0.55 = 1 &gt; 0 → HIRE</a:t>
            </a:r>
          </a:p>
          <a:p>
            <a:pPr lvl="1"/>
            <a:endParaRPr sz="2000" dirty="0"/>
          </a:p>
          <a:p>
            <a:pPr lvl="1">
              <a:defRPr sz="1800"/>
            </a:pPr>
            <a:r>
              <a:rPr sz="2000" dirty="0"/>
              <a:t>Payoff-based (B=10, b=-30):</a:t>
            </a:r>
          </a:p>
          <a:p>
            <a:pPr lvl="1">
              <a:defRPr sz="1800" b="1">
                <a:solidFill>
                  <a:srgbClr val="E74C3C"/>
                </a:solidFill>
              </a:defRPr>
            </a:pPr>
            <a:r>
              <a:rPr sz="2000" dirty="0"/>
              <a:t>E[Payoff] = -30 + 40 × 0.55 = -8 &lt; 0 → REJECT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endParaRPr lang="en-US" sz="2000" dirty="0"/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rPr sz="2000" dirty="0"/>
              <a:t>Key insight: High cost of bad hires makes us more conservative!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2200" b="1"/>
            </a:pPr>
            <a:r>
              <a:rPr dirty="0"/>
              <a:t>Start with prior belief about candidate quality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2200" b="1"/>
            </a:pPr>
            <a:r>
              <a:rPr dirty="0"/>
              <a:t>Observe signals: Network effect (G) and Papers (N)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2200" b="1"/>
            </a:pPr>
            <a:r>
              <a:rPr dirty="0"/>
              <a:t>Use Bayes' theorem to update beliefs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2200" b="1"/>
            </a:pPr>
            <a:r>
              <a:rPr dirty="0"/>
              <a:t>Get posterior probability: </a:t>
            </a:r>
            <a:r>
              <a:rPr dirty="0" err="1"/>
              <a:t>Pr</a:t>
            </a:r>
            <a:r>
              <a:rPr dirty="0"/>
              <a:t>(F = good | G, N)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2200" b="1"/>
            </a:pPr>
            <a:r>
              <a:rPr lang="en-GB" dirty="0"/>
              <a:t>Compute expected payoff: E[Payoff] = B × </a:t>
            </a:r>
            <a:r>
              <a:rPr lang="en-GB" dirty="0" err="1"/>
              <a:t>Pr</a:t>
            </a:r>
            <a:r>
              <a:rPr lang="en-GB" dirty="0"/>
              <a:t>(Good) + b × </a:t>
            </a:r>
            <a:r>
              <a:rPr lang="en-GB" dirty="0" err="1"/>
              <a:t>Pr</a:t>
            </a:r>
            <a:r>
              <a:rPr lang="en-GB" dirty="0"/>
              <a:t>(Bad)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2200" b="1"/>
            </a:pPr>
            <a:r>
              <a:rPr dirty="0"/>
              <a:t>Make hiring decision based on probability</a:t>
            </a:r>
            <a:r>
              <a:rPr lang="en-US" dirty="0"/>
              <a:t> </a:t>
            </a:r>
            <a:r>
              <a:rPr lang="en-GB" dirty="0"/>
              <a:t> (probability-based or payoff-based)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  <a:defRPr sz="2200" b="1"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/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878</Words>
  <Application>Microsoft Macintosh PowerPoint</Application>
  <PresentationFormat>On-screen Show (4:3)</PresentationFormat>
  <Paragraphs>108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Chaperon-Based Hiring Model</vt:lpstr>
      <vt:lpstr>The Hiring Challenge</vt:lpstr>
      <vt:lpstr>PowerPoint Presentation</vt:lpstr>
      <vt:lpstr>Step 1: Start with Prior Belief</vt:lpstr>
      <vt:lpstr>Step 2: Network Effect Signal</vt:lpstr>
      <vt:lpstr>Step 3: Publication Count Signal</vt:lpstr>
      <vt:lpstr>Step 4: Combine Signals with Bayes' Theorem</vt:lpstr>
      <vt:lpstr>The Result: Probability Matrix</vt:lpstr>
      <vt:lpstr>Interpretation</vt:lpstr>
      <vt:lpstr>Real Examples: Four Candidates</vt:lpstr>
      <vt:lpstr>Key Insights</vt:lpstr>
      <vt:lpstr>Beyond Probabilities: Payoffs</vt:lpstr>
      <vt:lpstr>Expected Payoff Calculation</vt:lpstr>
      <vt:lpstr>Expected Payoff: Real Examples</vt:lpstr>
      <vt:lpstr>Two Decision Approaches</vt:lpstr>
      <vt:lpstr>When Do Decisions Differ?</vt:lpstr>
      <vt:lpstr>Summary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Lisette Espin</cp:lastModifiedBy>
  <cp:revision>21</cp:revision>
  <dcterms:created xsi:type="dcterms:W3CDTF">2013-01-27T09:14:16Z</dcterms:created>
  <dcterms:modified xsi:type="dcterms:W3CDTF">2026-01-21T08:23:14Z</dcterms:modified>
  <cp:category/>
</cp:coreProperties>
</file>