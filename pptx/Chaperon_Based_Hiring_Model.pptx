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36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rPr dirty="0"/>
              <a:t>Bayesian Hiring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rPr dirty="0"/>
              <a:t>Using Network Effects and Publication Count</a:t>
            </a:r>
          </a:p>
          <a:p>
            <a:r>
              <a:rPr dirty="0"/>
              <a:t>To </a:t>
            </a:r>
            <a:r>
              <a:rPr lang="en-US" dirty="0"/>
              <a:t>Better Understand</a:t>
            </a:r>
            <a:r>
              <a:rPr dirty="0"/>
              <a:t> Decisions</a:t>
            </a:r>
            <a:r>
              <a:rPr lang="en-US" dirty="0"/>
              <a:t>: Hiring Use Case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D271B-7D67-652D-81A3-6AB668231BB7}"/>
              </a:ext>
            </a:extLst>
          </p:cNvPr>
          <p:cNvSpPr txBox="1"/>
          <p:nvPr/>
        </p:nvSpPr>
        <p:spPr>
          <a:xfrm>
            <a:off x="2466102" y="619035"/>
            <a:ext cx="42117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T" sz="3600" b="1" dirty="0"/>
              <a:t>Network Fair Process</a:t>
            </a:r>
          </a:p>
          <a:p>
            <a:pPr algn="ctr"/>
            <a:r>
              <a:rPr lang="en-AT" sz="3600" dirty="0"/>
              <a:t>Group #1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The Hiring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rPr dirty="0"/>
              <a:t>You need to hire the best candidates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But you can't directly observe their true quality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You only see signals: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Network effect (G): Did they work with top researchers?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Publication count (N): How many papers did they publish?</a:t>
            </a:r>
          </a:p>
          <a:p>
            <a:pPr>
              <a:spcAft>
                <a:spcPts val="1200"/>
              </a:spcAft>
              <a:defRPr sz="1800" b="1"/>
            </a:pPr>
            <a:r>
              <a:rPr dirty="0"/>
              <a:t>Solution: Bayesian inference to combine signals!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What We're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371600" cy="731520"/>
          </a:xfrm>
          <a:prstGeom prst="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F (Fit)</a:t>
            </a:r>
          </a:p>
          <a:p>
            <a:r>
              <a:t>Hidden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N (Papers)</a:t>
            </a:r>
          </a:p>
          <a:p>
            <a:r>
              <a:rPr dirty="0"/>
              <a:t>Observed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651760"/>
            <a:ext cx="914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2651760"/>
            <a:ext cx="3200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Goal: Compute Pr(F = good | G, 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G (Network)</a:t>
            </a:r>
          </a:p>
          <a:p>
            <a:r>
              <a:rPr dirty="0"/>
              <a:t>Observed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1: Start with Prior Belief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seeing any signals, we have an initial belief: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t>Pr(F = good) = p = 0.5</a:t>
            </a:r>
          </a:p>
          <a:p>
            <a:pPr>
              <a:defRPr sz="1800"/>
            </a:pPr>
            <a:r>
              <a:t>This means: 50% of candidates are good (on average)</a:t>
            </a:r>
          </a:p>
        </p:txBody>
      </p:sp>
      <p:pic>
        <p:nvPicPr>
          <p:cNvPr id="4" name="Picture 3" descr="temp_prior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743200" y="3674382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2: Network Effect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tells us about candidate quality:</a:t>
            </a:r>
          </a:p>
          <a:p>
            <a:pPr marL="357188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70% have network (</a:t>
            </a:r>
            <a:r>
              <a:rPr dirty="0" err="1"/>
              <a:t>q_good</a:t>
            </a:r>
            <a:r>
              <a:rPr dirty="0"/>
              <a:t> = 0.7)</a:t>
            </a:r>
          </a:p>
          <a:p>
            <a:pPr marL="357188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30% have network (</a:t>
            </a:r>
            <a:r>
              <a:rPr dirty="0" err="1"/>
              <a:t>q_bad</a:t>
            </a:r>
            <a:r>
              <a:rPr dirty="0"/>
              <a:t> = 0.3)</a:t>
            </a:r>
          </a:p>
          <a:p>
            <a:pPr marL="357188" indent="0">
              <a:defRPr sz="1800" b="1"/>
            </a:pPr>
            <a:r>
              <a:rPr lang="en-US" dirty="0"/>
              <a:t>  </a:t>
            </a:r>
            <a:r>
              <a:rPr dirty="0"/>
              <a:t>Key insight: Network effect is a stronger signal for good candidates!</a:t>
            </a:r>
          </a:p>
        </p:txBody>
      </p:sp>
      <p:pic>
        <p:nvPicPr>
          <p:cNvPr id="4" name="Picture 3" descr="temp_prior.png">
            <a:extLst>
              <a:ext uri="{FF2B5EF4-FFF2-40B4-BE49-F238E27FC236}">
                <a16:creationId xmlns:a16="http://schemas.microsoft.com/office/drawing/2014/main" id="{E4E3BC53-FED6-25B6-A395-A39713A33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2743200" y="38862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3: Publication Count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Publication count follows Poisson distribution:</a:t>
            </a:r>
          </a:p>
          <a:p>
            <a:pPr marL="400050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Average 5 papers (</a:t>
            </a:r>
            <a:r>
              <a:rPr dirty="0" err="1"/>
              <a:t>λ_good</a:t>
            </a:r>
            <a:r>
              <a:rPr dirty="0"/>
              <a:t> = 5.0)</a:t>
            </a:r>
          </a:p>
          <a:p>
            <a:pPr marL="400050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Average 2 papers (</a:t>
            </a:r>
            <a:r>
              <a:rPr dirty="0" err="1"/>
              <a:t>λ_bad</a:t>
            </a:r>
            <a:r>
              <a:rPr dirty="0"/>
              <a:t> = 2.0)</a:t>
            </a:r>
          </a:p>
        </p:txBody>
      </p:sp>
      <p:pic>
        <p:nvPicPr>
          <p:cNvPr id="4" name="Picture 3" descr="temp_pois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04457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000"/>
            </a:pPr>
            <a:r>
              <a:t>Step 4: Combine Signals with Bayes'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Bayes' Theorem combines prior and signals:</a:t>
            </a:r>
          </a:p>
          <a:p>
            <a:pPr>
              <a:defRPr sz="2000"/>
            </a:pPr>
            <a:r>
              <a:rPr lang="en-GB" dirty="0">
                <a:solidFill>
                  <a:schemeClr val="tx2"/>
                </a:solidFill>
              </a:rPr>
              <a:t>Updated Belief = Prior × Evidence</a:t>
            </a:r>
          </a:p>
          <a:p>
            <a:pPr marL="0" indent="0">
              <a:buNone/>
              <a:defRPr sz="2000"/>
            </a:pPr>
            <a:endParaRPr lang="en-GB" dirty="0">
              <a:solidFill>
                <a:schemeClr val="tx2"/>
              </a:solidFill>
            </a:endParaRPr>
          </a:p>
          <a:p>
            <a:pPr>
              <a:defRPr sz="2000"/>
            </a:pPr>
            <a:r>
              <a:rPr dirty="0" err="1"/>
              <a:t>Pr</a:t>
            </a:r>
            <a:r>
              <a:rPr dirty="0"/>
              <a:t>(F = good | G, N) =</a:t>
            </a:r>
            <a:r>
              <a:rPr lang="en-US" dirty="0"/>
              <a:t>      </a:t>
            </a:r>
            <a:r>
              <a:rPr dirty="0" err="1"/>
              <a:t>Pr</a:t>
            </a:r>
            <a:r>
              <a:rPr dirty="0"/>
              <a:t>(G, N | good) × </a:t>
            </a:r>
            <a:r>
              <a:rPr dirty="0" err="1"/>
              <a:t>Pr</a:t>
            </a:r>
            <a:r>
              <a:rPr dirty="0"/>
              <a:t>(good)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              </a:t>
            </a:r>
            <a:r>
              <a:rPr dirty="0"/>
              <a:t>───────────────────────</a:t>
            </a:r>
            <a:r>
              <a:rPr lang="en-AT" dirty="0"/>
              <a:t>──</a:t>
            </a:r>
            <a:endParaRPr lang="en-US" dirty="0"/>
          </a:p>
          <a:p>
            <a:pPr marL="457200" lvl="1" indent="0">
              <a:buNone/>
              <a:defRPr sz="1800"/>
            </a:pPr>
            <a:r>
              <a:rPr lang="en-AT" dirty="0"/>
              <a:t>                                                              </a:t>
            </a:r>
            <a:r>
              <a:rPr dirty="0"/>
              <a:t> </a:t>
            </a:r>
            <a:r>
              <a:rPr dirty="0" err="1"/>
              <a:t>Pr</a:t>
            </a:r>
            <a:r>
              <a:rPr dirty="0"/>
              <a:t>(G, 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The Result: Probability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dirty="0"/>
              <a:t>For each combination of signals, we compute the probability:</a:t>
            </a:r>
          </a:p>
          <a:p>
            <a:pPr>
              <a:defRPr sz="1800"/>
            </a:pPr>
            <a:r>
              <a:rPr dirty="0"/>
              <a:t>Rows: Network effect (Yes/No)</a:t>
            </a:r>
          </a:p>
          <a:p>
            <a:pPr>
              <a:defRPr sz="1800"/>
            </a:pPr>
            <a:r>
              <a:rPr dirty="0"/>
              <a:t>Columns: Number of papers (1-10)</a:t>
            </a:r>
          </a:p>
          <a:p>
            <a:pPr>
              <a:defRPr sz="1800" b="1"/>
            </a:pPr>
            <a:r>
              <a:rPr dirty="0"/>
              <a:t>Values: </a:t>
            </a:r>
            <a:r>
              <a:rPr dirty="0" err="1"/>
              <a:t>Pr</a:t>
            </a:r>
            <a:r>
              <a:rPr dirty="0"/>
              <a:t>(F = good | G, N)</a:t>
            </a:r>
          </a:p>
        </p:txBody>
      </p:sp>
      <p:pic>
        <p:nvPicPr>
          <p:cNvPr id="4" name="Picture 3" descr="tem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46248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Real Examples: Four Candidates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is powerful:</a:t>
            </a:r>
            <a:endParaRPr lang="en-US" dirty="0"/>
          </a:p>
          <a:p>
            <a:pPr lvl="1"/>
            <a:r>
              <a:rPr dirty="0"/>
              <a:t>Candidates with network + few papers can still be good</a:t>
            </a:r>
            <a:endParaRPr lang="en-US" dirty="0"/>
          </a:p>
          <a:p>
            <a:r>
              <a:rPr dirty="0"/>
              <a:t>Many papers help, but network matters more:</a:t>
            </a:r>
            <a:endParaRPr lang="en-US" dirty="0"/>
          </a:p>
          <a:p>
            <a:pPr lvl="1"/>
            <a:r>
              <a:rPr dirty="0"/>
              <a:t>No network + many papers = moderate probability</a:t>
            </a:r>
            <a:endParaRPr lang="en-US" dirty="0"/>
          </a:p>
          <a:p>
            <a:r>
              <a:rPr dirty="0">
                <a:solidFill>
                  <a:srgbClr val="FF0000"/>
                </a:solidFill>
              </a:rPr>
              <a:t>Weakest signal: No network + few papers</a:t>
            </a:r>
            <a:endParaRPr lang="en-US" dirty="0">
              <a:solidFill>
                <a:srgbClr val="FF0000"/>
              </a:solidFill>
            </a:endParaRPr>
          </a:p>
          <a:p>
            <a:r>
              <a:rPr dirty="0">
                <a:solidFill>
                  <a:srgbClr val="00B050"/>
                </a:solidFill>
              </a:rPr>
              <a:t>Strongest signal: Network + many papers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How to Use: Decision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Simple decision rule:</a:t>
            </a:r>
          </a:p>
          <a:p>
            <a:pPr marL="357188" indent="0">
              <a:buNone/>
              <a:defRPr sz="2400" b="1">
                <a:solidFill>
                  <a:srgbClr val="2ECC71"/>
                </a:solidFill>
              </a:defRPr>
            </a:pPr>
            <a:r>
              <a:rPr dirty="0"/>
              <a:t>IF </a:t>
            </a:r>
            <a:r>
              <a:rPr dirty="0" err="1"/>
              <a:t>Pr</a:t>
            </a:r>
            <a:r>
              <a:rPr dirty="0"/>
              <a:t>(F = good | G, N) &gt; 0.5</a:t>
            </a:r>
          </a:p>
          <a:p>
            <a:pPr marL="357188" indent="0">
              <a:buNone/>
              <a:defRPr sz="2800" b="1"/>
            </a:pPr>
            <a:r>
              <a:rPr dirty="0"/>
              <a:t>   → HIRE</a:t>
            </a:r>
          </a:p>
          <a:p>
            <a:pPr marL="357188" indent="0">
              <a:buNone/>
              <a:defRPr sz="2400" b="1">
                <a:solidFill>
                  <a:srgbClr val="E74C3C"/>
                </a:solidFill>
              </a:defRPr>
            </a:pPr>
            <a:r>
              <a:rPr dirty="0"/>
              <a:t>ELSE</a:t>
            </a:r>
          </a:p>
          <a:p>
            <a:pPr marL="357188" indent="0">
              <a:buNone/>
              <a:defRPr sz="2800" b="1"/>
            </a:pPr>
            <a:r>
              <a:rPr dirty="0"/>
              <a:t>   → REJECT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Start with prior belief about candidate quality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Observe signals: Network effect (G) and Papers (N)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Use Bayes' theorem to update beliefs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Get posterior probability: </a:t>
            </a:r>
            <a:r>
              <a:rPr dirty="0" err="1"/>
              <a:t>Pr</a:t>
            </a:r>
            <a:r>
              <a:rPr dirty="0"/>
              <a:t>(F = good | G, 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Make hiring decision based on probability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489</Words>
  <Application>Microsoft Macintosh PowerPoint</Application>
  <PresentationFormat>On-screen Show (4:3)</PresentationFormat>
  <Paragraphs>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Bayesian Hiring Model</vt:lpstr>
      <vt:lpstr>The Hiring Challenge</vt:lpstr>
      <vt:lpstr>PowerPoint Presentation</vt:lpstr>
      <vt:lpstr>Step 1: Start with Prior Belief</vt:lpstr>
      <vt:lpstr>Step 2: Network Effect Signal</vt:lpstr>
      <vt:lpstr>Step 3: Publication Count Signal</vt:lpstr>
      <vt:lpstr>Step 4: Combine Signals with Bayes' Theorem</vt:lpstr>
      <vt:lpstr>The Result: Probability Matrix</vt:lpstr>
      <vt:lpstr>Real Examples: Four Candidates</vt:lpstr>
      <vt:lpstr>Key Insights</vt:lpstr>
      <vt:lpstr>How to Use: Decision Rule</vt:lpstr>
      <vt:lpstr>Summary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Lisette Espin</cp:lastModifiedBy>
  <cp:revision>7</cp:revision>
  <dcterms:created xsi:type="dcterms:W3CDTF">2013-01-27T09:14:16Z</dcterms:created>
  <dcterms:modified xsi:type="dcterms:W3CDTF">2026-01-20T21:30:50Z</dcterms:modified>
  <cp:category/>
</cp:coreProperties>
</file>