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7" r:id="rId13"/>
    <p:sldId id="271" r:id="rId14"/>
    <p:sldId id="272" r:id="rId15"/>
    <p:sldId id="273" r:id="rId16"/>
    <p:sldId id="268" r:id="rId17"/>
    <p:sldId id="269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26"/>
    <p:restoredTop sz="94694"/>
  </p:normalViewPr>
  <p:slideViewPr>
    <p:cSldViewPr snapToGrid="0" snapToObjects="1">
      <p:cViewPr varScale="1">
        <p:scale>
          <a:sx n="117" d="100"/>
          <a:sy n="117" d="100"/>
        </p:scale>
        <p:origin x="145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>
                <a:solidFill>
                  <a:srgbClr val="003366"/>
                </a:solidFill>
              </a:defRPr>
            </a:pPr>
            <a:r>
              <a:rPr dirty="0"/>
              <a:t>Bayesian Hiring Model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646464"/>
                </a:solidFill>
              </a:defRPr>
            </a:pPr>
            <a:r>
              <a:rPr dirty="0"/>
              <a:t>Using </a:t>
            </a:r>
            <a:r>
              <a:rPr lang="en-US" b="1" dirty="0"/>
              <a:t>Chaperon</a:t>
            </a:r>
            <a:r>
              <a:rPr b="1" dirty="0"/>
              <a:t> Effect</a:t>
            </a:r>
            <a:r>
              <a:rPr dirty="0"/>
              <a:t> and </a:t>
            </a:r>
            <a:r>
              <a:rPr b="1" dirty="0"/>
              <a:t>Publication Count</a:t>
            </a:r>
          </a:p>
          <a:p>
            <a:r>
              <a:rPr dirty="0"/>
              <a:t>To </a:t>
            </a:r>
            <a:r>
              <a:rPr lang="en-US" dirty="0"/>
              <a:t>Better Understand</a:t>
            </a:r>
            <a:r>
              <a:rPr dirty="0"/>
              <a:t> Decisions</a:t>
            </a:r>
            <a:r>
              <a:rPr lang="en-US" dirty="0"/>
              <a:t>: Hiring Use Case</a:t>
            </a:r>
            <a:endParaRPr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3D271B-7D67-652D-81A3-6AB668231BB7}"/>
              </a:ext>
            </a:extLst>
          </p:cNvPr>
          <p:cNvSpPr txBox="1"/>
          <p:nvPr/>
        </p:nvSpPr>
        <p:spPr>
          <a:xfrm>
            <a:off x="2466102" y="619035"/>
            <a:ext cx="42117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T" sz="3600" b="1" dirty="0"/>
              <a:t>Network Fair Process</a:t>
            </a:r>
          </a:p>
          <a:p>
            <a:pPr algn="ctr"/>
            <a:r>
              <a:rPr lang="en-AT" sz="3600" dirty="0"/>
              <a:t>Group #1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 b="1"/>
            </a:pPr>
            <a:r>
              <a:t>The Hiring Challenge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200"/>
              </a:spcAft>
              <a:defRPr sz="1800"/>
            </a:pPr>
            <a:r>
              <a:rPr dirty="0"/>
              <a:t>You need to hire the best candidates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But you can't directly observe their true quality</a:t>
            </a:r>
          </a:p>
          <a:p>
            <a:pPr>
              <a:spcAft>
                <a:spcPts val="1200"/>
              </a:spcAft>
              <a:defRPr sz="1800"/>
            </a:pPr>
            <a:r>
              <a:rPr dirty="0"/>
              <a:t>You only see signals: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Network effect (G): Did they work with top researchers?</a:t>
            </a:r>
          </a:p>
          <a:p>
            <a:pPr lvl="1">
              <a:spcAft>
                <a:spcPts val="1200"/>
              </a:spcAft>
              <a:defRPr sz="1800"/>
            </a:pPr>
            <a:r>
              <a:rPr dirty="0"/>
              <a:t>   Publication count (N): How many papers did they publish?</a:t>
            </a:r>
          </a:p>
          <a:p>
            <a:pPr>
              <a:spcAft>
                <a:spcPts val="1200"/>
              </a:spcAft>
              <a:defRPr sz="1800" b="1"/>
            </a:pPr>
            <a:r>
              <a:rPr dirty="0"/>
              <a:t>Solution: Bayesian inference to combine signals!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What We're Modeling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371600" cy="731520"/>
          </a:xfrm>
          <a:prstGeom prst="rect">
            <a:avLst/>
          </a:prstGeom>
          <a:solidFill>
            <a:srgbClr val="C8C8C8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t>F (Fit)</a:t>
            </a:r>
          </a:p>
          <a:p>
            <a:r>
              <a:t>Hidden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0" y="22860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rPr dirty="0"/>
              <a:t>N (Papers)</a:t>
            </a:r>
          </a:p>
          <a:p>
            <a:r>
              <a:rPr dirty="0"/>
              <a:t>Observed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651760"/>
            <a:ext cx="914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2651760"/>
            <a:ext cx="32004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828800" y="36576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3366"/>
                </a:solidFill>
              </a:defRPr>
            </a:pPr>
            <a:r>
              <a:t>Goal: Compute Pr(F = good | G, 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2286000"/>
            <a:ext cx="1371600" cy="731520"/>
          </a:xfrm>
          <a:prstGeom prst="rect">
            <a:avLst/>
          </a:prstGeom>
          <a:solidFill>
            <a:srgbClr val="2ECC7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 b="1"/>
            </a:pPr>
            <a:r>
              <a:rPr dirty="0"/>
              <a:t>G (Network)</a:t>
            </a:r>
          </a:p>
          <a:p>
            <a:r>
              <a:rPr dirty="0"/>
              <a:t>Observed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1: Start with Prior Belief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Before seeing any signals, we have an initial belief:</a:t>
            </a:r>
          </a:p>
          <a:p>
            <a:pPr>
              <a:defRPr sz="2400" b="1">
                <a:solidFill>
                  <a:srgbClr val="003366"/>
                </a:solidFill>
              </a:defRPr>
            </a:pPr>
            <a:r>
              <a:t>Pr(F = good) = p = 0.5</a:t>
            </a:r>
          </a:p>
          <a:p>
            <a:pPr>
              <a:defRPr sz="1800"/>
            </a:pPr>
            <a:r>
              <a:t>This means: 50% of candidates are good (on average)</a:t>
            </a:r>
          </a:p>
        </p:txBody>
      </p:sp>
      <p:pic>
        <p:nvPicPr>
          <p:cNvPr id="4" name="Picture 3" descr="temp_prior.png"/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2743200" y="3674382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2: Network Effect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Network effect tells us about candidate quality:</a:t>
            </a:r>
          </a:p>
          <a:p>
            <a:pPr marL="357188" indent="0">
              <a:buNone/>
              <a:defRPr sz="1800">
                <a:solidFill>
                  <a:srgbClr val="2ECC71"/>
                </a:solidFill>
              </a:defRPr>
            </a:pPr>
            <a:r>
              <a:rPr dirty="0"/>
              <a:t>• Good candidates: 70% have network (</a:t>
            </a:r>
            <a:r>
              <a:rPr dirty="0" err="1"/>
              <a:t>q_good</a:t>
            </a:r>
            <a:r>
              <a:rPr dirty="0"/>
              <a:t> = 0.7)</a:t>
            </a:r>
          </a:p>
          <a:p>
            <a:pPr marL="357188" indent="0">
              <a:buNone/>
              <a:defRPr sz="1800">
                <a:solidFill>
                  <a:srgbClr val="E74C3C"/>
                </a:solidFill>
              </a:defRPr>
            </a:pPr>
            <a:r>
              <a:rPr dirty="0"/>
              <a:t>• Bad candidates: 30% have network (</a:t>
            </a:r>
            <a:r>
              <a:rPr dirty="0" err="1"/>
              <a:t>q_bad</a:t>
            </a:r>
            <a:r>
              <a:rPr dirty="0"/>
              <a:t> = 0.3)</a:t>
            </a:r>
          </a:p>
          <a:p>
            <a:pPr marL="357188" indent="0">
              <a:defRPr sz="1800" b="1"/>
            </a:pPr>
            <a:r>
              <a:rPr lang="en-US" dirty="0"/>
              <a:t>  </a:t>
            </a:r>
            <a:r>
              <a:rPr dirty="0"/>
              <a:t>Key insight: Network effect is a stronger signal for good candidates!</a:t>
            </a:r>
          </a:p>
        </p:txBody>
      </p:sp>
      <p:pic>
        <p:nvPicPr>
          <p:cNvPr id="4" name="Picture 3" descr="temp_prior.png">
            <a:extLst>
              <a:ext uri="{FF2B5EF4-FFF2-40B4-BE49-F238E27FC236}">
                <a16:creationId xmlns:a16="http://schemas.microsoft.com/office/drawing/2014/main" id="{E4E3BC53-FED6-25B6-A395-A39713A33AD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0000"/>
          <a:stretch>
            <a:fillRect/>
          </a:stretch>
        </p:blipFill>
        <p:spPr>
          <a:xfrm>
            <a:off x="2743200" y="3886200"/>
            <a:ext cx="3657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Step 3: Publication Count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Publication count follows Poisson distribution:</a:t>
            </a:r>
          </a:p>
          <a:p>
            <a:pPr marL="400050" indent="0">
              <a:buNone/>
              <a:defRPr sz="1800">
                <a:solidFill>
                  <a:srgbClr val="2ECC71"/>
                </a:solidFill>
              </a:defRPr>
            </a:pPr>
            <a:r>
              <a:rPr dirty="0"/>
              <a:t>• Good candidates: Average 5 papers (</a:t>
            </a:r>
            <a:r>
              <a:rPr dirty="0" err="1"/>
              <a:t>λ_good</a:t>
            </a:r>
            <a:r>
              <a:rPr dirty="0"/>
              <a:t> = 5.0)</a:t>
            </a:r>
          </a:p>
          <a:p>
            <a:pPr marL="400050" indent="0">
              <a:buNone/>
              <a:defRPr sz="1800">
                <a:solidFill>
                  <a:srgbClr val="E74C3C"/>
                </a:solidFill>
              </a:defRPr>
            </a:pPr>
            <a:r>
              <a:rPr dirty="0"/>
              <a:t>• Bad candidates: Average 2 papers (</a:t>
            </a:r>
            <a:r>
              <a:rPr dirty="0" err="1"/>
              <a:t>λ_bad</a:t>
            </a:r>
            <a:r>
              <a:rPr dirty="0"/>
              <a:t> = 2.0)</a:t>
            </a:r>
          </a:p>
        </p:txBody>
      </p:sp>
      <p:pic>
        <p:nvPicPr>
          <p:cNvPr id="4" name="Picture 3" descr="temp_pois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04457"/>
            <a:ext cx="8229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>
              <a:defRPr sz="4000"/>
            </a:pPr>
            <a:r>
              <a:t>Step 4: Combine Signals with Bayes' Theorem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Bayes' Theorem combines prior and signals:</a:t>
            </a:r>
          </a:p>
          <a:p>
            <a:pPr>
              <a:defRPr sz="2000"/>
            </a:pPr>
            <a:r>
              <a:rPr lang="en-GB" dirty="0">
                <a:solidFill>
                  <a:schemeClr val="tx2"/>
                </a:solidFill>
              </a:rPr>
              <a:t>Updated Belief = Prior × Evidence</a:t>
            </a:r>
          </a:p>
          <a:p>
            <a:pPr marL="0" indent="0">
              <a:buNone/>
              <a:defRPr sz="2000"/>
            </a:pPr>
            <a:endParaRPr lang="en-GB" dirty="0">
              <a:solidFill>
                <a:schemeClr val="tx2"/>
              </a:solidFill>
            </a:endParaRPr>
          </a:p>
          <a:p>
            <a:pPr>
              <a:defRPr sz="2000"/>
            </a:pPr>
            <a:r>
              <a:rPr dirty="0" err="1"/>
              <a:t>Pr</a:t>
            </a:r>
            <a:r>
              <a:rPr dirty="0"/>
              <a:t>(F = good | G, N) =</a:t>
            </a:r>
            <a:r>
              <a:rPr lang="en-US" dirty="0"/>
              <a:t>      </a:t>
            </a:r>
            <a:r>
              <a:rPr dirty="0" err="1"/>
              <a:t>Pr</a:t>
            </a:r>
            <a:r>
              <a:rPr dirty="0"/>
              <a:t>(G, N | good) × </a:t>
            </a:r>
            <a:r>
              <a:rPr dirty="0" err="1"/>
              <a:t>Pr</a:t>
            </a:r>
            <a:r>
              <a:rPr dirty="0"/>
              <a:t>(good)</a:t>
            </a:r>
          </a:p>
          <a:p>
            <a:pPr marL="457200" lvl="1" indent="0">
              <a:buNone/>
              <a:defRPr sz="1800"/>
            </a:pPr>
            <a:r>
              <a:rPr lang="en-US" dirty="0"/>
              <a:t>                                            </a:t>
            </a:r>
            <a:r>
              <a:rPr dirty="0"/>
              <a:t>───────────────────────</a:t>
            </a:r>
            <a:r>
              <a:rPr lang="en-AT" dirty="0"/>
              <a:t>──</a:t>
            </a:r>
            <a:endParaRPr lang="en-US" dirty="0"/>
          </a:p>
          <a:p>
            <a:pPr marL="457200" lvl="1" indent="0">
              <a:buNone/>
              <a:defRPr sz="1800"/>
            </a:pPr>
            <a:r>
              <a:rPr lang="en-AT" dirty="0"/>
              <a:t>                                                              </a:t>
            </a:r>
            <a:r>
              <a:rPr dirty="0"/>
              <a:t> </a:t>
            </a:r>
            <a:r>
              <a:rPr dirty="0" err="1"/>
              <a:t>Pr</a:t>
            </a:r>
            <a:r>
              <a:rPr dirty="0"/>
              <a:t>(G, N)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The Result: Probability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4525963"/>
          </a:xfrm>
        </p:spPr>
        <p:txBody>
          <a:bodyPr/>
          <a:lstStyle/>
          <a:p>
            <a:r>
              <a:rPr dirty="0"/>
              <a:t>For each combination of signals, we compute the probability:</a:t>
            </a:r>
          </a:p>
          <a:p>
            <a:pPr>
              <a:defRPr sz="1800"/>
            </a:pPr>
            <a:r>
              <a:rPr dirty="0"/>
              <a:t>Rows: </a:t>
            </a:r>
            <a:r>
              <a:rPr lang="en-US" dirty="0"/>
              <a:t>Chaperon</a:t>
            </a:r>
            <a:r>
              <a:rPr dirty="0"/>
              <a:t> effect (Yes/No)</a:t>
            </a:r>
          </a:p>
          <a:p>
            <a:pPr>
              <a:defRPr sz="1800"/>
            </a:pPr>
            <a:r>
              <a:rPr dirty="0"/>
              <a:t>Columns: Number of papers (1-10)</a:t>
            </a:r>
          </a:p>
          <a:p>
            <a:pPr>
              <a:defRPr sz="1800" b="1"/>
            </a:pPr>
            <a:r>
              <a:rPr dirty="0"/>
              <a:t>Values: </a:t>
            </a:r>
            <a:r>
              <a:rPr dirty="0" err="1"/>
              <a:t>Pr</a:t>
            </a:r>
            <a:r>
              <a:rPr dirty="0"/>
              <a:t>(F = good | G, N)</a:t>
            </a:r>
          </a:p>
        </p:txBody>
      </p:sp>
      <p:pic>
        <p:nvPicPr>
          <p:cNvPr id="4" name="Picture 3" descr="temp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546248"/>
            <a:ext cx="822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Real Examples: Four Candidates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</p:txBody>
      </p:sp>
      <p:pic>
        <p:nvPicPr>
          <p:cNvPr id="4" name="Picture 3" descr="temp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Network effect is powerful:</a:t>
            </a:r>
            <a:endParaRPr lang="en-US" dirty="0"/>
          </a:p>
          <a:p>
            <a:pPr lvl="1"/>
            <a:r>
              <a:rPr dirty="0"/>
              <a:t>Candidates with network + few papers can still be good</a:t>
            </a:r>
            <a:endParaRPr lang="en-US" dirty="0"/>
          </a:p>
          <a:p>
            <a:r>
              <a:rPr dirty="0"/>
              <a:t>Many papers help, but network matters more:</a:t>
            </a:r>
            <a:endParaRPr lang="en-US" dirty="0"/>
          </a:p>
          <a:p>
            <a:pPr lvl="1"/>
            <a:r>
              <a:rPr dirty="0"/>
              <a:t>No network + many papers = moderate probability</a:t>
            </a:r>
            <a:endParaRPr lang="en-US" dirty="0"/>
          </a:p>
          <a:p>
            <a:r>
              <a:rPr dirty="0">
                <a:solidFill>
                  <a:srgbClr val="FF0000"/>
                </a:solidFill>
              </a:rPr>
              <a:t>Weakest signal: No network + few papers</a:t>
            </a:r>
            <a:endParaRPr lang="en-US" dirty="0">
              <a:solidFill>
                <a:srgbClr val="FF0000"/>
              </a:solidFill>
            </a:endParaRPr>
          </a:p>
          <a:p>
            <a:r>
              <a:rPr dirty="0">
                <a:solidFill>
                  <a:srgbClr val="00B050"/>
                </a:solidFill>
              </a:rPr>
              <a:t>Strongest signal: Network + many papers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Beyond Probabilities: Payoffs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Hiring decisions involve costs and benefits:</a:t>
            </a:r>
          </a:p>
          <a:p>
            <a:pPr>
              <a:defRPr sz="1800">
                <a:solidFill>
                  <a:srgbClr val="2ECC71"/>
                </a:solidFill>
              </a:defRPr>
            </a:pPr>
            <a:r>
              <a:rPr dirty="0"/>
              <a:t>B = Payoff from hiring a GOOD candidate (e.g., 10)</a:t>
            </a:r>
          </a:p>
          <a:p>
            <a:pPr>
              <a:defRPr sz="1800">
                <a:solidFill>
                  <a:srgbClr val="E74C3C"/>
                </a:solidFill>
              </a:defRPr>
            </a:pPr>
            <a:r>
              <a:rPr dirty="0"/>
              <a:t>b = Payoff from hiring a BAD candidate (e.g., </a:t>
            </a:r>
            <a:r>
              <a:rPr lang="en-US" dirty="0"/>
              <a:t>-</a:t>
            </a:r>
            <a:r>
              <a:rPr dirty="0"/>
              <a:t>2)</a:t>
            </a:r>
          </a:p>
          <a:p>
            <a:pPr>
              <a:defRPr sz="1800">
                <a:solidFill>
                  <a:srgbClr val="3498DB"/>
                </a:solidFill>
              </a:defRPr>
            </a:pPr>
            <a:r>
              <a:rPr dirty="0"/>
              <a:t>w = Applicant payoff if hired (e.g., 5)</a:t>
            </a:r>
          </a:p>
          <a:p>
            <a:pPr>
              <a:defRPr sz="2000" b="1">
                <a:solidFill>
                  <a:srgbClr val="003366"/>
                </a:solidFill>
              </a:defRPr>
            </a:pPr>
            <a:r>
              <a:rPr dirty="0"/>
              <a:t>Key insight: Not all mistakes cost the same!</a:t>
            </a:r>
          </a:p>
        </p:txBody>
      </p:sp>
      <p:pic>
        <p:nvPicPr>
          <p:cNvPr id="5" name="Picture 4" descr="temp_payoffs.png">
            <a:extLst>
              <a:ext uri="{FF2B5EF4-FFF2-40B4-BE49-F238E27FC236}">
                <a16:creationId xmlns:a16="http://schemas.microsoft.com/office/drawing/2014/main" id="{15DDAAB7-090D-EA6F-CFD2-E6BE5C5A97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886200"/>
            <a:ext cx="82296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Expected Payoff Calculation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400" dirty="0"/>
              <a:t>Expected Payoff = Weighted average of possible outcomes:</a:t>
            </a:r>
            <a:endParaRPr lang="en-GB" sz="2400" dirty="0"/>
          </a:p>
          <a:p>
            <a:pPr marL="457200" lvl="1" indent="0" algn="ctr">
              <a:buNone/>
              <a:defRPr sz="2200" b="1">
                <a:solidFill>
                  <a:srgbClr val="003366"/>
                </a:solidFill>
              </a:defRPr>
            </a:pPr>
            <a:r>
              <a:rPr lang="en-GB" sz="2400" dirty="0"/>
              <a:t>E[Payoff] = B × </a:t>
            </a:r>
            <a:r>
              <a:rPr lang="en-GB" sz="2400" dirty="0" err="1"/>
              <a:t>Pr</a:t>
            </a:r>
            <a:r>
              <a:rPr lang="en-GB" sz="2400" dirty="0"/>
              <a:t>(Good) + b × </a:t>
            </a:r>
            <a:r>
              <a:rPr lang="en-GB" sz="2400" dirty="0" err="1"/>
              <a:t>Pr</a:t>
            </a:r>
            <a:r>
              <a:rPr lang="en-GB" sz="2400" dirty="0"/>
              <a:t>(Bad)</a:t>
            </a:r>
          </a:p>
          <a:p>
            <a:pPr>
              <a:defRPr sz="1800"/>
            </a:pPr>
            <a:r>
              <a:rPr sz="2400" dirty="0"/>
              <a:t>Or equivalently:</a:t>
            </a:r>
          </a:p>
          <a:p>
            <a:pPr marL="0" indent="0" algn="ctr">
              <a:buNone/>
              <a:defRPr sz="2000" b="1"/>
            </a:pPr>
            <a:r>
              <a:rPr sz="2400" dirty="0"/>
              <a:t>E[Payoff] = b + (B - b) × </a:t>
            </a:r>
            <a:r>
              <a:rPr sz="2400" dirty="0" err="1"/>
              <a:t>Pr</a:t>
            </a:r>
            <a:r>
              <a:rPr sz="2400" dirty="0"/>
              <a:t>(Good)</a:t>
            </a:r>
          </a:p>
          <a:p>
            <a:pPr>
              <a:defRPr sz="1800"/>
            </a:pPr>
            <a:r>
              <a:rPr sz="2400" dirty="0"/>
              <a:t>Example: </a:t>
            </a:r>
            <a:br>
              <a:rPr lang="en-US" sz="2400" dirty="0"/>
            </a:br>
            <a:r>
              <a:rPr sz="2400" dirty="0"/>
              <a:t>If </a:t>
            </a:r>
            <a:r>
              <a:rPr sz="2400" dirty="0" err="1"/>
              <a:t>Pr</a:t>
            </a:r>
            <a:r>
              <a:rPr sz="2400" dirty="0"/>
              <a:t>(Good) = 0.6, B = 10, b = 2</a:t>
            </a:r>
            <a:endParaRPr lang="en-GB" sz="2400" dirty="0"/>
          </a:p>
          <a:p>
            <a:pPr marL="801688" indent="-334963">
              <a:defRPr sz="1800" b="1">
                <a:solidFill>
                  <a:srgbClr val="2ECC71"/>
                </a:solidFill>
              </a:defRPr>
            </a:pPr>
            <a:r>
              <a:rPr lang="en-GB" sz="2400" dirty="0"/>
              <a:t>E[Payoff] = 2 + (10 - 2) × 0.6 = 6.8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Expected Payoff: Real Examples</a:t>
            </a:r>
          </a:p>
        </p:txBody>
      </p:sp>
      <p:pic>
        <p:nvPicPr>
          <p:cNvPr id="5" name="Picture 4" descr="temp_expected_payoff.png">
            <a:extLst>
              <a:ext uri="{FF2B5EF4-FFF2-40B4-BE49-F238E27FC236}">
                <a16:creationId xmlns:a16="http://schemas.microsoft.com/office/drawing/2014/main" id="{1B7B3838-F83C-A0B6-D579-01D7D37E42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32858"/>
            <a:ext cx="82296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Two Decision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 dirty="0"/>
              <a:t>Approach 1: Probability-Based</a:t>
            </a:r>
          </a:p>
          <a:p>
            <a:pPr marL="933450" indent="-336550">
              <a:defRPr sz="2000" b="1">
                <a:solidFill>
                  <a:srgbClr val="2ECC71"/>
                </a:solidFill>
              </a:defRPr>
            </a:pPr>
            <a:r>
              <a:rPr dirty="0"/>
              <a:t>IF </a:t>
            </a:r>
            <a:r>
              <a:rPr dirty="0" err="1"/>
              <a:t>Pr</a:t>
            </a:r>
            <a:r>
              <a:rPr dirty="0"/>
              <a:t>(F = good | G, N) &gt; 0.5 → HIRE</a:t>
            </a:r>
          </a:p>
          <a:p>
            <a:pPr marL="933450" indent="-336550">
              <a:defRPr sz="2000" b="1">
                <a:solidFill>
                  <a:srgbClr val="E74C3C"/>
                </a:solidFill>
              </a:defRPr>
            </a:pPr>
            <a:r>
              <a:rPr dirty="0"/>
              <a:t>ELSE → REJECT</a:t>
            </a:r>
          </a:p>
          <a:p>
            <a:pPr marL="933450" indent="-336550">
              <a:defRPr sz="1800"/>
            </a:pPr>
            <a:r>
              <a:rPr dirty="0"/>
              <a:t>✓ Simple and intuitive</a:t>
            </a:r>
          </a:p>
          <a:p>
            <a:pPr marL="933450" indent="-336550">
              <a:defRPr sz="1800"/>
            </a:pPr>
            <a:r>
              <a:rPr dirty="0"/>
              <a:t>✗ Assumes symmetric costs</a:t>
            </a:r>
            <a:endParaRPr lang="en-US" dirty="0"/>
          </a:p>
          <a:p>
            <a:pPr marL="596900" indent="0">
              <a:buNone/>
              <a:defRPr sz="1800"/>
            </a:pPr>
            <a:endParaRPr dirty="0"/>
          </a:p>
          <a:p>
            <a:pPr>
              <a:defRPr sz="2000" b="1">
                <a:solidFill>
                  <a:srgbClr val="003366"/>
                </a:solidFill>
              </a:defRPr>
            </a:pPr>
            <a:r>
              <a:rPr sz="2800" dirty="0"/>
              <a:t>Approach 2: Payoff-Based</a:t>
            </a:r>
          </a:p>
          <a:p>
            <a:pPr marL="987425" indent="-401638">
              <a:defRPr sz="2000" b="1">
                <a:solidFill>
                  <a:srgbClr val="2ECC71"/>
                </a:solidFill>
              </a:defRPr>
            </a:pPr>
            <a:r>
              <a:rPr dirty="0"/>
              <a:t>IF E[Payoff] &gt; 0 → HIRE</a:t>
            </a:r>
          </a:p>
          <a:p>
            <a:pPr marL="987425" indent="-401638">
              <a:defRPr sz="2000" b="1">
                <a:solidFill>
                  <a:srgbClr val="E74C3C"/>
                </a:solidFill>
              </a:defRPr>
            </a:pPr>
            <a:r>
              <a:rPr dirty="0"/>
              <a:t>ELSE → REJECT</a:t>
            </a:r>
          </a:p>
          <a:p>
            <a:pPr marL="987425" indent="-401638">
              <a:defRPr sz="1800"/>
            </a:pPr>
            <a:r>
              <a:rPr dirty="0"/>
              <a:t>✓ Accounts for different costs/benefits</a:t>
            </a:r>
          </a:p>
          <a:p>
            <a:pPr marL="987425" indent="-401638">
              <a:defRPr sz="1800"/>
            </a:pPr>
            <a:r>
              <a:rPr dirty="0"/>
              <a:t>✓ More realistic for actual decisions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When Do Decisions Differ?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sz="2800" dirty="0"/>
              <a:t>Example: Candidate with </a:t>
            </a:r>
            <a:r>
              <a:rPr sz="2800" dirty="0" err="1"/>
              <a:t>Pr</a:t>
            </a:r>
            <a:r>
              <a:rPr sz="2800" dirty="0"/>
              <a:t>(Good) = 0.55</a:t>
            </a:r>
          </a:p>
          <a:p>
            <a:pPr lvl="1">
              <a:defRPr sz="1800">
                <a:solidFill>
                  <a:srgbClr val="2ECC71"/>
                </a:solidFill>
              </a:defRPr>
            </a:pPr>
            <a:r>
              <a:rPr sz="2000" dirty="0"/>
              <a:t>Probability-based: HIRE (55% &gt; 50%)</a:t>
            </a:r>
          </a:p>
          <a:p>
            <a:pPr lvl="1"/>
            <a:endParaRPr sz="2000" dirty="0"/>
          </a:p>
          <a:p>
            <a:pPr lvl="1">
              <a:defRPr sz="1800"/>
            </a:pPr>
            <a:r>
              <a:rPr sz="2000" dirty="0"/>
              <a:t>Payoff-based (B=10, b=2):</a:t>
            </a:r>
          </a:p>
          <a:p>
            <a:pPr lvl="1">
              <a:defRPr sz="1800" b="1"/>
            </a:pPr>
            <a:r>
              <a:rPr sz="2000" dirty="0"/>
              <a:t>E[Payoff] = 2 + 8 × 0.55 = 6.4 &gt; 0 → HIRE</a:t>
            </a:r>
          </a:p>
          <a:p>
            <a:pPr lvl="1"/>
            <a:endParaRPr sz="2000" dirty="0"/>
          </a:p>
          <a:p>
            <a:pPr lvl="1">
              <a:defRPr sz="1800"/>
            </a:pPr>
            <a:r>
              <a:rPr sz="2000" dirty="0"/>
              <a:t>Payoff-based (B=10, b=-10):</a:t>
            </a:r>
          </a:p>
          <a:p>
            <a:pPr lvl="1">
              <a:defRPr sz="1800" b="1"/>
            </a:pPr>
            <a:r>
              <a:rPr sz="2000" dirty="0"/>
              <a:t>E[Payoff] = -10 + 20 × 0.55 = 1 &gt; 0 → HIRE</a:t>
            </a:r>
          </a:p>
          <a:p>
            <a:pPr lvl="1"/>
            <a:endParaRPr sz="2000" dirty="0"/>
          </a:p>
          <a:p>
            <a:pPr lvl="1">
              <a:defRPr sz="1800"/>
            </a:pPr>
            <a:r>
              <a:rPr sz="2000" dirty="0"/>
              <a:t>Payoff-based (B=10, b=-30):</a:t>
            </a:r>
          </a:p>
          <a:p>
            <a:pPr lvl="1">
              <a:defRPr sz="1800" b="1">
                <a:solidFill>
                  <a:srgbClr val="E74C3C"/>
                </a:solidFill>
              </a:defRPr>
            </a:pPr>
            <a:r>
              <a:rPr sz="2000" dirty="0"/>
              <a:t>E[Payoff] = -30 + 40 × 0.55 = -8 &lt; 0 → REJECT</a:t>
            </a:r>
          </a:p>
          <a:p>
            <a:pPr>
              <a:defRPr sz="1800" b="1">
                <a:solidFill>
                  <a:srgbClr val="003366"/>
                </a:solidFill>
              </a:defRPr>
            </a:pPr>
            <a:endParaRPr lang="en-US" sz="2000" dirty="0"/>
          </a:p>
          <a:p>
            <a:pPr>
              <a:defRPr sz="1800" b="1">
                <a:solidFill>
                  <a:srgbClr val="003366"/>
                </a:solidFill>
              </a:defRPr>
            </a:pPr>
            <a:r>
              <a:rPr sz="2000" dirty="0"/>
              <a:t>Key insight: High cost of bad hires makes us more conservative!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400"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Start with prior belief about candidate quality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Observe signals: Network effect (G) and Papers (N)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Use Bayes' theorem to update beliefs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Get posterior probability: </a:t>
            </a:r>
            <a:r>
              <a:rPr dirty="0" err="1"/>
              <a:t>Pr</a:t>
            </a:r>
            <a:r>
              <a:rPr dirty="0"/>
              <a:t>(F = good | G, N)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lang="en-GB" dirty="0"/>
              <a:t>Compute expected payoff: E[Payoff] = B × </a:t>
            </a:r>
            <a:r>
              <a:rPr lang="en-GB" dirty="0" err="1"/>
              <a:t>Pr</a:t>
            </a:r>
            <a:r>
              <a:rPr lang="en-GB" dirty="0"/>
              <a:t>(Good) + b × </a:t>
            </a:r>
            <a:r>
              <a:rPr lang="en-GB" dirty="0" err="1"/>
              <a:t>Pr</a:t>
            </a:r>
            <a:r>
              <a:rPr lang="en-GB" dirty="0"/>
              <a:t>(Bad)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r>
              <a:rPr dirty="0"/>
              <a:t>Make hiring decision based on probability</a:t>
            </a:r>
            <a:r>
              <a:rPr lang="en-US" dirty="0"/>
              <a:t> </a:t>
            </a:r>
            <a:r>
              <a:rPr lang="en-GB" dirty="0"/>
              <a:t> (probability-based or payoff-based)</a:t>
            </a:r>
          </a:p>
          <a:p>
            <a:pPr marL="457200" indent="-457200">
              <a:spcAft>
                <a:spcPts val="1200"/>
              </a:spcAft>
              <a:buFont typeface="+mj-lt"/>
              <a:buAutoNum type="arabicPeriod"/>
              <a:defRPr sz="2200" b="1"/>
            </a:pP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5400" b="1"/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3200"/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820</Words>
  <Application>Microsoft Macintosh PowerPoint</Application>
  <PresentationFormat>On-screen Show (4:3)</PresentationFormat>
  <Paragraphs>102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Bayesian Hiring Model</vt:lpstr>
      <vt:lpstr>The Hiring Challenge</vt:lpstr>
      <vt:lpstr>PowerPoint Presentation</vt:lpstr>
      <vt:lpstr>Step 1: Start with Prior Belief</vt:lpstr>
      <vt:lpstr>Step 2: Network Effect Signal</vt:lpstr>
      <vt:lpstr>Step 3: Publication Count Signal</vt:lpstr>
      <vt:lpstr>Step 4: Combine Signals with Bayes' Theorem</vt:lpstr>
      <vt:lpstr>The Result: Probability Matrix</vt:lpstr>
      <vt:lpstr>Real Examples: Four Candidates</vt:lpstr>
      <vt:lpstr>Key Insights</vt:lpstr>
      <vt:lpstr>Beyond Probabilities: Payoffs</vt:lpstr>
      <vt:lpstr>Expected Payoff Calculation</vt:lpstr>
      <vt:lpstr>Expected Payoff: Real Examples</vt:lpstr>
      <vt:lpstr>Two Decision Approaches</vt:lpstr>
      <vt:lpstr>When Do Decisions Differ?</vt:lpstr>
      <vt:lpstr>Summary</vt:lpstr>
      <vt:lpstr>Thank You!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Lisette Espin</cp:lastModifiedBy>
  <cp:revision>15</cp:revision>
  <dcterms:created xsi:type="dcterms:W3CDTF">2013-01-27T09:14:16Z</dcterms:created>
  <dcterms:modified xsi:type="dcterms:W3CDTF">2026-01-20T23:34:44Z</dcterms:modified>
  <cp:category/>
</cp:coreProperties>
</file>